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5F73"/>
                </a:solidFill>
                <a:latin typeface="Calibri"/>
              </a:defRPr>
            </a:pPr>
            <a:r>
              <a:rPr sz="1300" b="0" i="0" u="none" strike="noStrike">
                <a:solidFill>
                  <a:srgbClr val="6B5F73"/>
                </a:solidFill>
                <a:latin typeface="Calibri"/>
              </a:rPr>
              <a:t>Minutes per section</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E23E7A"/>
            </a:solidFill>
            <a:effectLst/>
          </c:spPr>
          <c:invertIfNegative val="0"/>
          <c:dLbls>
            <c:numFmt formatCode="0.0" sourceLinked="0"/>
            <c:txPr>
              <a:bodyPr/>
              <a:lstStyle/>
              <a:p>
                <a:pPr>
                  <a:defRPr b="0" i="0" strike="noStrike" sz="1100" u="none">
                    <a:solidFill>
                      <a:srgbClr val="2A2030"/>
                    </a:solidFill>
                    <a:latin typeface="Arial"/>
                  </a:defRPr>
                </a:pPr>
              </a:p>
            </c:txPr>
            <c:showLegendKey val="0"/>
            <c:showVal val="1"/>
            <c:showCatName val="0"/>
            <c:showSerName val="0"/>
            <c:showPercent val="0"/>
            <c:showBubbleSize val="0"/>
            <c:showLeaderLines val="0"/>
          </c:dLbls>
          <c:cat>
            <c:multiLvlStrRef>
              <c:f>Sheet1!$A$2:$A$9</c:f>
              <c:multiLvlStrCache>
                <c:ptCount val="8"/>
                <c:lvl>
                  <c:pt idx="0">
                    <c:v>Opening</c:v>
                  </c:pt>
                  <c:pt idx="1">
                    <c:v>Problem</c:v>
                  </c:pt>
                  <c:pt idx="2">
                    <c:v>Why second-hand</c:v>
                  </c:pt>
                  <c:pt idx="3">
                    <c:v>Solution</c:v>
                  </c:pt>
                  <c:pt idx="4">
                    <c:v>Responsible AI</c:v>
                  </c:pt>
                  <c:pt idx="5">
                    <c:v>Market</c:v>
                  </c:pt>
                  <c:pt idx="6">
                    <c:v>Next steps</c:v>
                  </c:pt>
                  <c:pt idx="7">
                    <c:v>Close</c:v>
                  </c:pt>
                </c:lvl>
              </c:multiLvlStrCache>
            </c:multiLvlStrRef>
          </c:cat>
          <c:val>
            <c:numRef>
              <c:f>Sheet1!$B$2:$B$9</c:f>
              <c:numCache>
                <c:formatCode>General</c:formatCode>
                <c:ptCount val="8"/>
                <c:pt idx="0">
                  <c:v>1</c:v>
                </c:pt>
                <c:pt idx="1">
                  <c:v>2</c:v>
                </c:pt>
                <c:pt idx="2">
                  <c:v>1.5</c:v>
                </c:pt>
                <c:pt idx="3">
                  <c:v>2.5</c:v>
                </c:pt>
                <c:pt idx="4">
                  <c:v>1</c:v>
                </c:pt>
                <c:pt idx="5">
                  <c:v>1</c:v>
                </c:pt>
                <c:pt idx="6">
                  <c:v>0.5</c:v>
                </c:pt>
                <c:pt idx="7">
                  <c:v>0.5</c:v>
                </c:pt>
              </c:numCache>
            </c:numRef>
          </c:val>
        </c:ser>
        <c:dLbls>
          <c:numFmt formatCode="0.0" sourceLinked="0"/>
          <c:txPr>
            <a:bodyPr/>
            <a:lstStyle/>
            <a:p>
              <a:pPr>
                <a:defRPr b="0" i="0" strike="noStrike" sz="1100" u="none">
                  <a:solidFill>
                    <a:srgbClr val="2A20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A20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Welcome (about 1 min)
Hi everyone, and welcome! I'm so glad you're here.
Over the next few hours, we're going to take one idea, Fashion Fits, and turn it into a real, pitch-ready project. By the end, you'll have a concept, a slide deck and a speech you can deliver with confidence.
And here's the best part: you don't need any coding experience. If you can tell a story and think about a problem, you can do this.
[Pause]
Let's start with a question. Have you ever found the perfect piece of clothing, only to discover it doesn't fit? Hold on to that feeling, because it's where our whole project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What you will learn (about 1 min)
Before we dive in, let me show you what you'll walk away with.
You'll learn how to prove a real problem using research and a story. You'll learn how to pick a niche and own it, so you're not competing with everyone. You'll design an AI feature step by step, build it responsibly, and finally pitch it in ten minutes.
There are six sections, about three hours of video, and one final project. Every section ends with a short exercise, so you're building as you learn, not just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Roadmap (about 1 min)
Here's your roadmap.
Section one is this welcome and the project overview. Section two, we find and prove the problem. Section three, we choose our niche. Section four is the exciting one: we design the solution. Section five covers responsible AI and how we stand apart from competitors. And section six, we put it all together into a pitch.
Notice the last circle is highlighted. Everything we do leads to that final pitch, so keep it in mind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The Problem (about 2 min)
Every great pitch starts with a problem people feel. So let's look at ours.
Our research suggests around 70 percent of online clothing returns are due to sizing issues. That's the single biggest reason people send clothes back.
Why? Because a size label doesn't mean what we think it means. A size 12 in Australia is not a size 12 in the United States, or in Japan. And a vintage size 12 from the 1980s is different again.
[Pause]
Now, look at who gets hurt. The customer wastes money, pays for return shipping and loses time. The business pays shipping and handling costs, has stock tied up, and loses something harder to measure: trust. When a customer is disappointed once, they hesitate to come back.
Your exercise: draw a pain map with two columns, customer and business. List every cost you can think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Why second-hand? (about 1.5 min)
You might ask: why second-hand? Why not all online fashion?
Because second-hand has this problem in its most extreme form. At a mainstream retailer, you can order two sizes and return the one that doesn't fit. In second-hand, that option doesn't exist. There's one jacket, one dress, one pair of jeans. If it doesn't fit, that's it.
On top of that, many sellers are everyday people. They don't measure their items, tags are faded or in another country's sizing system, or the tag is missing altogether.
And here's the sustainability angle. When a wrong-size purchase ends up unused or in the bin, the environmental benefit of buying second-hand disappears. Demand is growing every year. What's missing is confidence.
Quick quiz after this video: why is second-hand the most extreme version of the sizing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The solution in four steps (about 2.5 min)
Now let's design the solution. Meet Fashion Fits, an AI feature that sits inside the online marketplace, so the customer never has to download anything.
Step one, the tag. The seller or buyer takes a simple photo of the clothing tag. No tape measure, no forms.
Step two, the AI reads it. It picks out the brand, size, country and fabric, finds the brand's published size information, and works out what that label means in real measurements.
Step three, the match. It compares those measurements with the customer's own size profile.
Step four, the score. Every item gets a fit percentage, like 92 percent match for you.
[Pause]
Your hands-on task: sketch these four screens in Canva or Figma. Keep them simple. Clear beats fancy.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The hero feature (about 1 min)
Let's zoom in on the part I'm most excited about: the fit percentage.
Fashion Fits doesn't just say "this might fit." It gives a number, so the customer knows exactly how confident the recommendation is.
Picture it. You're browsing, and next to every item is a number telling you how well it will fit you. No guessing. No disappointment. No wardrobe graveyard.
That's the key lesson for your own projects: turn hope into information. When your product gives people something clear to act on, that's when it becomes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Responsible AI (about 2 min)
Any AI product needs to be built responsibly. We use four principles, and I want you to write your own by the end of this section.
First, privacy. We only photograph the clothing tag, never a person, and never a body scan.
Second, honesty. If the tag is unreadable or the brand information can't be found, the tool says so, lowers the confidence score and suggests checking with the seller. We'd rather admit uncertainty than give a wrong answer.
Third, respect. Our language is about the garment, not the body. We say "this jacket runs narrow," never "you are too big."
Fourth, human oversight. Sellers can correct the information, and those corrections make the tool better for everyone.
Exercise: write four responsible-AI principles for your own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The market and our advantage (about 1.5 min)
Let's talk competition. Every good pitch acknowledges it.
Our main competitors are Garment DNA and True Fit. They're capable tools, but they try to serve everyone, including mainstream retailers, and second-hand is an adaptation.
Fashion Fits serves one group, and serves it deeply. We're built only for second-hand, where every item is unique and where reducing landfill matters most.
And look at the chain at the bottom. Satisfied customers build trust. Trust brings people back and attracts new ones. More customers means growth for the businesses that use us.
Takeaway: a specialist beats a generalist when the problem is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Structuring the pitch (about 2 min)
Now, let's turn all of this into a ten-minute pitch.
This chart shows how the time is split: one minute for the opening, two for the problem, a minute and a half on why second-hand, two and a half on the solution, then responsible AI, the market, next steps and a short close.
Three delivery tips. Pace yourself at about 140 to 150 words a minute. Use pauses, especially after a big question or a key number. And if you're presenting as a team, practise your handovers so they feel smooth.
Finish with your next step. For us, that's a pilot with a small second-hand platform, measuring fewer wrong-size purchases, fewer returns and happier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Your project (about 1 min)
Here's what you'll submit.
One: your pain map. Two: your four screens. Three: your four responsible-AI principles. And four: a recorded ten-minute pitch.
Don't aim for perfect. Aim for clear and honest. Submit your recording in the course project area, and I'll give you feedback.
If you get stuck, post a question in the Q and A. Someone, usually me, will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Closing (about 1 min)
Congratulations, you made it!
You started with a problem, found a niche, designed an AI solution, made it responsible, and learned how to pitch it.
Remember the line that ties it all together: second-hand should mean a second life, not a second guess.
[Pause, smile]
Now go build something people will love. Thank you so much for learning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437"/>
        </a:solidFill>
      </p:bgPr>
    </p:bg>
    <p:spTree>
      <p:nvGrpSpPr>
        <p:cNvPr id="1" name=""/>
        <p:cNvGrpSpPr/>
        <p:nvPr/>
      </p:nvGrpSpPr>
      <p:grpSpPr>
        <a:xfrm>
          <a:off x="0" y="0"/>
          <a:ext cx="0" cy="0"/>
          <a:chOff x="0" y="0"/>
          <a:chExt cx="0" cy="0"/>
        </a:xfrm>
      </p:grpSpPr>
      <p:sp>
        <p:nvSpPr>
          <p:cNvPr id="3" name="Shape 0"/>
          <p:cNvSpPr/>
          <p:nvPr/>
        </p:nvSpPr>
        <p:spPr>
          <a:xfrm>
            <a:off x="6035040" y="822960"/>
            <a:ext cx="2926080" cy="2926080"/>
          </a:xfrm>
          <a:prstGeom prst="ellipse">
            <a:avLst/>
          </a:prstGeom>
          <a:solidFill>
            <a:srgbClr val="4A2256"/>
          </a:solidFill>
          <a:ln w="12700">
            <a:solidFill>
              <a:srgbClr val="4A2256"/>
            </a:solidFill>
            <a:prstDash val="solid"/>
          </a:ln>
        </p:spPr>
      </p:sp>
      <p:sp>
        <p:nvSpPr>
          <p:cNvPr id="4" name="Shape 1"/>
          <p:cNvSpPr/>
          <p:nvPr/>
        </p:nvSpPr>
        <p:spPr>
          <a:xfrm>
            <a:off x="6675120" y="1463040"/>
            <a:ext cx="1645920" cy="1645920"/>
          </a:xfrm>
          <a:prstGeom prst="ellipse">
            <a:avLst/>
          </a:prstGeom>
          <a:solidFill>
            <a:srgbClr val="E23E7A"/>
          </a:solidFill>
          <a:ln w="12700">
            <a:solidFill>
              <a:srgbClr val="E23E7A"/>
            </a:solidFill>
            <a:prstDash val="solid"/>
          </a:ln>
        </p:spPr>
      </p:sp>
      <p:pic>
        <p:nvPicPr>
          <p:cNvPr id="5" name="Image 0" descr="preencoded.png">    </p:cNvPr>
          <p:cNvPicPr>
            <a:picLocks noChangeAspect="1"/>
          </p:cNvPicPr>
          <p:nvPr/>
        </p:nvPicPr>
        <p:blipFill>
          <a:blip r:embed="rId1"/>
          <a:stretch>
            <a:fillRect/>
          </a:stretch>
        </p:blipFill>
        <p:spPr>
          <a:xfrm>
            <a:off x="7086600" y="1874520"/>
            <a:ext cx="822960" cy="822960"/>
          </a:xfrm>
          <a:prstGeom prst="rect">
            <a:avLst/>
          </a:prstGeom>
        </p:spPr>
      </p:pic>
      <p:sp>
        <p:nvSpPr>
          <p:cNvPr id="6" name="Text 2"/>
          <p:cNvSpPr txBox="1"/>
          <p:nvPr/>
        </p:nvSpPr>
        <p:spPr>
          <a:xfrm>
            <a:off x="548640" y="914400"/>
            <a:ext cx="5486400" cy="274320"/>
          </a:xfrm>
          <a:prstGeom prst="rect">
            <a:avLst/>
          </a:prstGeom>
          <a:noFill/>
          <a:ln/>
        </p:spPr>
        <p:txBody>
          <a:bodyPr wrap="square" lIns="0" tIns="0" rIns="0" bIns="0" rtlCol="0" anchor="ctr"/>
          <a:lstStyle/>
          <a:p>
            <a:pPr indent="0" marL="0">
              <a:buNone/>
            </a:pPr>
            <a:r>
              <a:rPr lang="en-US" sz="1200" b="1" spc="300" kern="0" dirty="0">
                <a:solidFill>
                  <a:srgbClr val="F5B942"/>
                </a:solidFill>
                <a:latin typeface="Calibri" pitchFamily="34" charset="0"/>
                <a:ea typeface="Calibri" pitchFamily="34" charset="-122"/>
                <a:cs typeface="Calibri" pitchFamily="34" charset="-120"/>
              </a:rPr>
              <a:t>ONLINE COURSE  ·  PROJECT-BASED</a:t>
            </a:r>
            <a:endParaRPr lang="en-US" sz="1200" dirty="0"/>
          </a:p>
        </p:txBody>
      </p:sp>
      <p:sp>
        <p:nvSpPr>
          <p:cNvPr id="7" name="Text 3"/>
          <p:cNvSpPr txBox="1"/>
          <p:nvPr/>
        </p:nvSpPr>
        <p:spPr>
          <a:xfrm>
            <a:off x="548640" y="1325880"/>
            <a:ext cx="5394960" cy="16459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Build and Pitch an AI Product from Scratch</a:t>
            </a:r>
            <a:endParaRPr lang="en-US" sz="3800" dirty="0"/>
          </a:p>
        </p:txBody>
      </p:sp>
      <p:sp>
        <p:nvSpPr>
          <p:cNvPr id="8" name="Text 4"/>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600" dirty="0">
                <a:solidFill>
                  <a:srgbClr val="E9D8F0"/>
                </a:solidFill>
                <a:latin typeface="Calibri" pitchFamily="34" charset="0"/>
                <a:ea typeface="Calibri" pitchFamily="34" charset="-122"/>
                <a:cs typeface="Calibri" pitchFamily="34" charset="-120"/>
              </a:rPr>
              <a:t>Project: Fashion Fits, an AI size recommender for second-hand fashion</a:t>
            </a:r>
            <a:endParaRPr lang="en-US" sz="1600" dirty="0"/>
          </a:p>
        </p:txBody>
      </p:sp>
      <p:sp>
        <p:nvSpPr>
          <p:cNvPr id="9" name="Text 5"/>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400" i="1" dirty="0">
                <a:solidFill>
                  <a:srgbClr val="F5B942"/>
                </a:solidFill>
                <a:latin typeface="Cambria" pitchFamily="34" charset="0"/>
                <a:ea typeface="Cambria" pitchFamily="34" charset="-122"/>
                <a:cs typeface="Cambria" pitchFamily="34" charset="-120"/>
              </a:rPr>
              <a:t>Second-hand should mean a second life, not a second guess.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F9"/>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WELCOME</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What you will learn</a:t>
            </a:r>
            <a:endParaRPr lang="en-US" sz="3400" dirty="0"/>
          </a:p>
        </p:txBody>
      </p:sp>
      <p:sp>
        <p:nvSpPr>
          <p:cNvPr id="5" name="Shape 2"/>
          <p:cNvSpPr/>
          <p:nvPr/>
        </p:nvSpPr>
        <p:spPr>
          <a:xfrm>
            <a:off x="548640" y="1280160"/>
            <a:ext cx="548640" cy="548640"/>
          </a:xfrm>
          <a:prstGeom prst="ellipse">
            <a:avLst/>
          </a:prstGeom>
          <a:solidFill>
            <a:srgbClr val="2E1437"/>
          </a:solidFill>
          <a:ln w="12700">
            <a:solidFill>
              <a:srgbClr val="2E1437"/>
            </a:solidFill>
            <a:prstDash val="solid"/>
          </a:ln>
        </p:spPr>
      </p:sp>
      <p:pic>
        <p:nvPicPr>
          <p:cNvPr id="6" name="Image 0" descr="preencoded.png">    </p:cNvPr>
          <p:cNvPicPr>
            <a:picLocks noChangeAspect="1"/>
          </p:cNvPicPr>
          <p:nvPr/>
        </p:nvPicPr>
        <p:blipFill>
          <a:blip r:embed="rId1"/>
          <a:stretch>
            <a:fillRect/>
          </a:stretch>
        </p:blipFill>
        <p:spPr>
          <a:xfrm>
            <a:off x="685800" y="1417320"/>
            <a:ext cx="274320" cy="274320"/>
          </a:xfrm>
          <a:prstGeom prst="rect">
            <a:avLst/>
          </a:prstGeom>
        </p:spPr>
      </p:pic>
      <p:sp>
        <p:nvSpPr>
          <p:cNvPr id="7" name="Text 3"/>
          <p:cNvSpPr txBox="1"/>
          <p:nvPr/>
        </p:nvSpPr>
        <p:spPr>
          <a:xfrm>
            <a:off x="1325880" y="1261872"/>
            <a:ext cx="2743200" cy="32004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Prove a real problem</a:t>
            </a:r>
            <a:endParaRPr lang="en-US" sz="1800" dirty="0"/>
          </a:p>
        </p:txBody>
      </p:sp>
      <p:sp>
        <p:nvSpPr>
          <p:cNvPr id="8" name="Text 4"/>
          <p:cNvSpPr txBox="1"/>
          <p:nvPr/>
        </p:nvSpPr>
        <p:spPr>
          <a:xfrm>
            <a:off x="1325880" y="1554480"/>
            <a:ext cx="4023360" cy="274320"/>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Back your idea with research and a story</a:t>
            </a:r>
            <a:endParaRPr lang="en-US" sz="1300" dirty="0"/>
          </a:p>
        </p:txBody>
      </p:sp>
      <p:sp>
        <p:nvSpPr>
          <p:cNvPr id="9" name="Shape 5"/>
          <p:cNvSpPr/>
          <p:nvPr/>
        </p:nvSpPr>
        <p:spPr>
          <a:xfrm>
            <a:off x="548640" y="1993392"/>
            <a:ext cx="548640" cy="548640"/>
          </a:xfrm>
          <a:prstGeom prst="ellipse">
            <a:avLst/>
          </a:prstGeom>
          <a:solidFill>
            <a:srgbClr val="2E1437"/>
          </a:solidFill>
          <a:ln w="12700">
            <a:solidFill>
              <a:srgbClr val="2E1437"/>
            </a:solidFill>
            <a:prstDash val="solid"/>
          </a:ln>
        </p:spPr>
      </p:sp>
      <p:pic>
        <p:nvPicPr>
          <p:cNvPr id="10" name="Image 1" descr="preencoded.png">    </p:cNvPr>
          <p:cNvPicPr>
            <a:picLocks noChangeAspect="1"/>
          </p:cNvPicPr>
          <p:nvPr/>
        </p:nvPicPr>
        <p:blipFill>
          <a:blip r:embed="rId2"/>
          <a:stretch>
            <a:fillRect/>
          </a:stretch>
        </p:blipFill>
        <p:spPr>
          <a:xfrm>
            <a:off x="685800" y="2130552"/>
            <a:ext cx="274320" cy="274320"/>
          </a:xfrm>
          <a:prstGeom prst="rect">
            <a:avLst/>
          </a:prstGeom>
        </p:spPr>
      </p:pic>
      <p:sp>
        <p:nvSpPr>
          <p:cNvPr id="11" name="Text 6"/>
          <p:cNvSpPr txBox="1"/>
          <p:nvPr/>
        </p:nvSpPr>
        <p:spPr>
          <a:xfrm>
            <a:off x="1325880" y="1975104"/>
            <a:ext cx="2743200" cy="32004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Own a niche</a:t>
            </a:r>
            <a:endParaRPr lang="en-US" sz="1800" dirty="0"/>
          </a:p>
        </p:txBody>
      </p:sp>
      <p:sp>
        <p:nvSpPr>
          <p:cNvPr id="12" name="Text 7"/>
          <p:cNvSpPr txBox="1"/>
          <p:nvPr/>
        </p:nvSpPr>
        <p:spPr>
          <a:xfrm>
            <a:off x="1325880" y="2267712"/>
            <a:ext cx="4023360" cy="274320"/>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Show why you beat general competitors</a:t>
            </a:r>
            <a:endParaRPr lang="en-US" sz="1300" dirty="0"/>
          </a:p>
        </p:txBody>
      </p:sp>
      <p:sp>
        <p:nvSpPr>
          <p:cNvPr id="13" name="Shape 8"/>
          <p:cNvSpPr/>
          <p:nvPr/>
        </p:nvSpPr>
        <p:spPr>
          <a:xfrm>
            <a:off x="548640" y="2706624"/>
            <a:ext cx="548640" cy="548640"/>
          </a:xfrm>
          <a:prstGeom prst="ellipse">
            <a:avLst/>
          </a:prstGeom>
          <a:solidFill>
            <a:srgbClr val="2E1437"/>
          </a:solidFill>
          <a:ln w="12700">
            <a:solidFill>
              <a:srgbClr val="2E1437"/>
            </a:solidFill>
            <a:prstDash val="solid"/>
          </a:ln>
        </p:spPr>
      </p:sp>
      <p:pic>
        <p:nvPicPr>
          <p:cNvPr id="14" name="Image 2" descr="preencoded.png">    </p:cNvPr>
          <p:cNvPicPr>
            <a:picLocks noChangeAspect="1"/>
          </p:cNvPicPr>
          <p:nvPr/>
        </p:nvPicPr>
        <p:blipFill>
          <a:blip r:embed="rId3"/>
          <a:stretch>
            <a:fillRect/>
          </a:stretch>
        </p:blipFill>
        <p:spPr>
          <a:xfrm>
            <a:off x="685800" y="2843784"/>
            <a:ext cx="274320" cy="274320"/>
          </a:xfrm>
          <a:prstGeom prst="rect">
            <a:avLst/>
          </a:prstGeom>
        </p:spPr>
      </p:pic>
      <p:sp>
        <p:nvSpPr>
          <p:cNvPr id="15" name="Text 9"/>
          <p:cNvSpPr txBox="1"/>
          <p:nvPr/>
        </p:nvSpPr>
        <p:spPr>
          <a:xfrm>
            <a:off x="1325880" y="2688336"/>
            <a:ext cx="2743200" cy="32004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Design the AI feature</a:t>
            </a:r>
            <a:endParaRPr lang="en-US" sz="1800" dirty="0"/>
          </a:p>
        </p:txBody>
      </p:sp>
      <p:sp>
        <p:nvSpPr>
          <p:cNvPr id="16" name="Text 10"/>
          <p:cNvSpPr txBox="1"/>
          <p:nvPr/>
        </p:nvSpPr>
        <p:spPr>
          <a:xfrm>
            <a:off x="1325880" y="2980944"/>
            <a:ext cx="4023360" cy="274320"/>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Photo, read, match, score</a:t>
            </a:r>
            <a:endParaRPr lang="en-US" sz="1300" dirty="0"/>
          </a:p>
        </p:txBody>
      </p:sp>
      <p:sp>
        <p:nvSpPr>
          <p:cNvPr id="17" name="Shape 11"/>
          <p:cNvSpPr/>
          <p:nvPr/>
        </p:nvSpPr>
        <p:spPr>
          <a:xfrm>
            <a:off x="548640" y="3419856"/>
            <a:ext cx="548640" cy="548640"/>
          </a:xfrm>
          <a:prstGeom prst="ellipse">
            <a:avLst/>
          </a:prstGeom>
          <a:solidFill>
            <a:srgbClr val="2E1437"/>
          </a:solidFill>
          <a:ln w="12700">
            <a:solidFill>
              <a:srgbClr val="2E1437"/>
            </a:solidFill>
            <a:prstDash val="solid"/>
          </a:ln>
        </p:spPr>
      </p:sp>
      <p:pic>
        <p:nvPicPr>
          <p:cNvPr id="18" name="Image 3" descr="preencoded.png">    </p:cNvPr>
          <p:cNvPicPr>
            <a:picLocks noChangeAspect="1"/>
          </p:cNvPicPr>
          <p:nvPr/>
        </p:nvPicPr>
        <p:blipFill>
          <a:blip r:embed="rId4"/>
          <a:stretch>
            <a:fillRect/>
          </a:stretch>
        </p:blipFill>
        <p:spPr>
          <a:xfrm>
            <a:off x="685800" y="3557016"/>
            <a:ext cx="274320" cy="274320"/>
          </a:xfrm>
          <a:prstGeom prst="rect">
            <a:avLst/>
          </a:prstGeom>
        </p:spPr>
      </p:pic>
      <p:sp>
        <p:nvSpPr>
          <p:cNvPr id="19" name="Text 12"/>
          <p:cNvSpPr txBox="1"/>
          <p:nvPr/>
        </p:nvSpPr>
        <p:spPr>
          <a:xfrm>
            <a:off x="1325880" y="3401568"/>
            <a:ext cx="2743200" cy="32004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Build it responsibly</a:t>
            </a:r>
            <a:endParaRPr lang="en-US" sz="1800" dirty="0"/>
          </a:p>
        </p:txBody>
      </p:sp>
      <p:sp>
        <p:nvSpPr>
          <p:cNvPr id="20" name="Text 13"/>
          <p:cNvSpPr txBox="1"/>
          <p:nvPr/>
        </p:nvSpPr>
        <p:spPr>
          <a:xfrm>
            <a:off x="1325880" y="3694176"/>
            <a:ext cx="4023360" cy="274320"/>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Privacy, honesty, respect, oversight</a:t>
            </a:r>
            <a:endParaRPr lang="en-US" sz="1300" dirty="0"/>
          </a:p>
        </p:txBody>
      </p:sp>
      <p:sp>
        <p:nvSpPr>
          <p:cNvPr id="21" name="Shape 14"/>
          <p:cNvSpPr/>
          <p:nvPr/>
        </p:nvSpPr>
        <p:spPr>
          <a:xfrm>
            <a:off x="548640" y="4133088"/>
            <a:ext cx="548640" cy="548640"/>
          </a:xfrm>
          <a:prstGeom prst="ellipse">
            <a:avLst/>
          </a:prstGeom>
          <a:solidFill>
            <a:srgbClr val="2E1437"/>
          </a:solidFill>
          <a:ln w="12700">
            <a:solidFill>
              <a:srgbClr val="2E1437"/>
            </a:solidFill>
            <a:prstDash val="solid"/>
          </a:ln>
        </p:spPr>
      </p:sp>
      <p:pic>
        <p:nvPicPr>
          <p:cNvPr id="22" name="Image 4" descr="preencoded.png">    </p:cNvPr>
          <p:cNvPicPr>
            <a:picLocks noChangeAspect="1"/>
          </p:cNvPicPr>
          <p:nvPr/>
        </p:nvPicPr>
        <p:blipFill>
          <a:blip r:embed="rId5"/>
          <a:stretch>
            <a:fillRect/>
          </a:stretch>
        </p:blipFill>
        <p:spPr>
          <a:xfrm>
            <a:off x="685800" y="4270248"/>
            <a:ext cx="274320" cy="274320"/>
          </a:xfrm>
          <a:prstGeom prst="rect">
            <a:avLst/>
          </a:prstGeom>
        </p:spPr>
      </p:pic>
      <p:sp>
        <p:nvSpPr>
          <p:cNvPr id="23" name="Text 15"/>
          <p:cNvSpPr txBox="1"/>
          <p:nvPr/>
        </p:nvSpPr>
        <p:spPr>
          <a:xfrm>
            <a:off x="1325880" y="4114800"/>
            <a:ext cx="2743200" cy="32004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Pitch with confidence</a:t>
            </a:r>
            <a:endParaRPr lang="en-US" sz="1800" dirty="0"/>
          </a:p>
        </p:txBody>
      </p:sp>
      <p:sp>
        <p:nvSpPr>
          <p:cNvPr id="24" name="Text 16"/>
          <p:cNvSpPr txBox="1"/>
          <p:nvPr/>
        </p:nvSpPr>
        <p:spPr>
          <a:xfrm>
            <a:off x="1325880" y="4407408"/>
            <a:ext cx="4023360" cy="274320"/>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A polished 10-minute talk</a:t>
            </a:r>
            <a:endParaRPr lang="en-US" sz="1300" dirty="0"/>
          </a:p>
        </p:txBody>
      </p:sp>
      <p:sp>
        <p:nvSpPr>
          <p:cNvPr id="25" name="Shape 17"/>
          <p:cNvSpPr/>
          <p:nvPr/>
        </p:nvSpPr>
        <p:spPr>
          <a:xfrm>
            <a:off x="5943600" y="1280160"/>
            <a:ext cx="2743200" cy="3383280"/>
          </a:xfrm>
          <a:prstGeom prst="roundRect">
            <a:avLst>
              <a:gd name="adj" fmla="val 5000"/>
            </a:avLst>
          </a:prstGeom>
          <a:solidFill>
            <a:srgbClr val="2E1437"/>
          </a:solidFill>
          <a:ln w="12700">
            <a:solidFill>
              <a:srgbClr val="2E1437"/>
            </a:solidFill>
            <a:prstDash val="solid"/>
          </a:ln>
          <a:effectLst>
            <a:outerShdw sx="100000" sy="100000" kx="0" ky="0" algn="bl" rotWithShape="0" blurRad="101600" dist="25400" dir="5400000">
              <a:srgbClr val="000000">
                <a:alpha val="12000"/>
              </a:srgbClr>
            </a:outerShdw>
          </a:effectLst>
        </p:spPr>
      </p:sp>
      <p:sp>
        <p:nvSpPr>
          <p:cNvPr id="26" name="Text 18"/>
          <p:cNvSpPr txBox="1"/>
          <p:nvPr/>
        </p:nvSpPr>
        <p:spPr>
          <a:xfrm>
            <a:off x="5943600" y="1554480"/>
            <a:ext cx="2743200" cy="1005840"/>
          </a:xfrm>
          <a:prstGeom prst="rect">
            <a:avLst/>
          </a:prstGeom>
          <a:noFill/>
          <a:ln/>
        </p:spPr>
        <p:txBody>
          <a:bodyPr wrap="square" lIns="0" tIns="0" rIns="0" bIns="0" rtlCol="0" anchor="ctr"/>
          <a:lstStyle/>
          <a:p>
            <a:pPr algn="ctr" indent="0" marL="0">
              <a:buNone/>
            </a:pPr>
            <a:r>
              <a:rPr lang="en-US" sz="6600" b="1" dirty="0">
                <a:solidFill>
                  <a:srgbClr val="F5B942"/>
                </a:solidFill>
                <a:latin typeface="Cambria" pitchFamily="34" charset="0"/>
                <a:ea typeface="Cambria" pitchFamily="34" charset="-122"/>
                <a:cs typeface="Cambria" pitchFamily="34" charset="-120"/>
              </a:rPr>
              <a:t>6</a:t>
            </a:r>
            <a:endParaRPr lang="en-US" sz="6600" dirty="0"/>
          </a:p>
        </p:txBody>
      </p:sp>
      <p:sp>
        <p:nvSpPr>
          <p:cNvPr id="27" name="Text 19"/>
          <p:cNvSpPr txBox="1"/>
          <p:nvPr/>
        </p:nvSpPr>
        <p:spPr>
          <a:xfrm>
            <a:off x="5943600" y="2560320"/>
            <a:ext cx="274320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sections</a:t>
            </a:r>
            <a:endParaRPr lang="en-US" sz="1600" dirty="0"/>
          </a:p>
        </p:txBody>
      </p:sp>
      <p:sp>
        <p:nvSpPr>
          <p:cNvPr id="28" name="Text 20"/>
          <p:cNvSpPr txBox="1"/>
          <p:nvPr/>
        </p:nvSpPr>
        <p:spPr>
          <a:xfrm>
            <a:off x="6217920" y="3200400"/>
            <a:ext cx="2286000" cy="1188720"/>
          </a:xfrm>
          <a:prstGeom prst="rect">
            <a:avLst/>
          </a:prstGeom>
          <a:noFill/>
          <a:ln/>
        </p:spPr>
        <p:txBody>
          <a:bodyPr wrap="square" lIns="0" tIns="0" rIns="0" bIns="0" rtlCol="0" anchor="t"/>
          <a:lstStyle/>
          <a:p>
            <a:pPr algn="ctr" indent="0" marL="0">
              <a:buNone/>
            </a:pPr>
            <a:r>
              <a:rPr lang="en-US" sz="1400" dirty="0">
                <a:solidFill>
                  <a:srgbClr val="E9D8F0"/>
                </a:solidFill>
                <a:latin typeface="Calibri" pitchFamily="34" charset="0"/>
                <a:ea typeface="Calibri" pitchFamily="34" charset="-122"/>
                <a:cs typeface="Calibri" pitchFamily="34" charset="-120"/>
              </a:rPr>
              <a:t>~3 hours of video</a:t>
            </a:r>
            <a:endParaRPr lang="en-US" sz="1400" dirty="0"/>
          </a:p>
          <a:p>
            <a:pPr algn="ctr" indent="0" marL="0">
              <a:buNone/>
            </a:pPr>
            <a:r>
              <a:rPr lang="en-US" sz="1400" dirty="0">
                <a:solidFill>
                  <a:srgbClr val="E9D8F0"/>
                </a:solidFill>
                <a:latin typeface="Calibri" pitchFamily="34" charset="0"/>
                <a:ea typeface="Calibri" pitchFamily="34" charset="-122"/>
                <a:cs typeface="Calibri" pitchFamily="34" charset="-120"/>
              </a:rPr>
              <a:t>1 final project</a:t>
            </a:r>
            <a:endParaRPr lang="en-US" sz="1400" dirty="0"/>
          </a:p>
          <a:p>
            <a:pPr algn="ctr" indent="0" marL="0">
              <a:buNone/>
            </a:pPr>
            <a:r>
              <a:rPr lang="en-US" sz="1400" dirty="0">
                <a:solidFill>
                  <a:srgbClr val="E9D8F0"/>
                </a:solidFill>
                <a:latin typeface="Calibri" pitchFamily="34" charset="0"/>
                <a:ea typeface="Calibri" pitchFamily="34" charset="-122"/>
                <a:cs typeface="Calibri" pitchFamily="34" charset="-120"/>
              </a:rPr>
              <a:t>No coding required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ROADMAP</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Your 6-section journey</a:t>
            </a:r>
            <a:endParaRPr lang="en-US" sz="3400" dirty="0"/>
          </a:p>
        </p:txBody>
      </p:sp>
      <p:sp>
        <p:nvSpPr>
          <p:cNvPr id="5" name="Shape 2"/>
          <p:cNvSpPr/>
          <p:nvPr/>
        </p:nvSpPr>
        <p:spPr>
          <a:xfrm>
            <a:off x="731520" y="2103120"/>
            <a:ext cx="7680960" cy="0"/>
          </a:xfrm>
          <a:prstGeom prst="line">
            <a:avLst/>
          </a:prstGeom>
          <a:noFill/>
          <a:ln w="25400">
            <a:solidFill>
              <a:srgbClr val="D9C6E2"/>
            </a:solidFill>
            <a:prstDash val="solid"/>
          </a:ln>
        </p:spPr>
      </p:sp>
      <p:sp>
        <p:nvSpPr>
          <p:cNvPr id="6" name="Shape 3"/>
          <p:cNvSpPr/>
          <p:nvPr/>
        </p:nvSpPr>
        <p:spPr>
          <a:xfrm>
            <a:off x="731520" y="2103120"/>
            <a:ext cx="7680960" cy="0"/>
          </a:xfrm>
          <a:prstGeom prst="line">
            <a:avLst/>
          </a:prstGeom>
          <a:noFill/>
          <a:ln w="25400">
            <a:solidFill>
              <a:srgbClr val="D9C6E2"/>
            </a:solidFill>
            <a:prstDash val="solid"/>
          </a:ln>
        </p:spPr>
      </p:sp>
      <p:sp>
        <p:nvSpPr>
          <p:cNvPr id="7" name="Shape 4"/>
          <p:cNvSpPr/>
          <p:nvPr/>
        </p:nvSpPr>
        <p:spPr>
          <a:xfrm>
            <a:off x="731520" y="2103120"/>
            <a:ext cx="7680960" cy="0"/>
          </a:xfrm>
          <a:prstGeom prst="line">
            <a:avLst/>
          </a:prstGeom>
          <a:noFill/>
          <a:ln w="25400">
            <a:solidFill>
              <a:srgbClr val="D9C6E2"/>
            </a:solidFill>
            <a:prstDash val="solid"/>
          </a:ln>
        </p:spPr>
      </p:sp>
      <p:sp>
        <p:nvSpPr>
          <p:cNvPr id="8" name="Shape 5"/>
          <p:cNvSpPr/>
          <p:nvPr/>
        </p:nvSpPr>
        <p:spPr>
          <a:xfrm>
            <a:off x="731520" y="2103120"/>
            <a:ext cx="7680960" cy="0"/>
          </a:xfrm>
          <a:prstGeom prst="line">
            <a:avLst/>
          </a:prstGeom>
          <a:noFill/>
          <a:ln w="25400">
            <a:solidFill>
              <a:srgbClr val="D9C6E2"/>
            </a:solidFill>
            <a:prstDash val="solid"/>
          </a:ln>
        </p:spPr>
      </p:sp>
      <p:sp>
        <p:nvSpPr>
          <p:cNvPr id="9" name="Shape 6"/>
          <p:cNvSpPr/>
          <p:nvPr/>
        </p:nvSpPr>
        <p:spPr>
          <a:xfrm>
            <a:off x="731520" y="2103120"/>
            <a:ext cx="7680960" cy="0"/>
          </a:xfrm>
          <a:prstGeom prst="line">
            <a:avLst/>
          </a:prstGeom>
          <a:noFill/>
          <a:ln w="25400">
            <a:solidFill>
              <a:srgbClr val="D9C6E2"/>
            </a:solidFill>
            <a:prstDash val="solid"/>
          </a:ln>
        </p:spPr>
      </p:sp>
      <p:sp>
        <p:nvSpPr>
          <p:cNvPr id="10" name="Shape 7"/>
          <p:cNvSpPr/>
          <p:nvPr/>
        </p:nvSpPr>
        <p:spPr>
          <a:xfrm>
            <a:off x="731520" y="2103120"/>
            <a:ext cx="7680960" cy="0"/>
          </a:xfrm>
          <a:prstGeom prst="line">
            <a:avLst/>
          </a:prstGeom>
          <a:noFill/>
          <a:ln w="25400">
            <a:solidFill>
              <a:srgbClr val="D9C6E2"/>
            </a:solidFill>
            <a:prstDash val="solid"/>
          </a:ln>
        </p:spPr>
      </p:sp>
      <p:sp>
        <p:nvSpPr>
          <p:cNvPr id="11" name="Shape 8"/>
          <p:cNvSpPr/>
          <p:nvPr/>
        </p:nvSpPr>
        <p:spPr>
          <a:xfrm>
            <a:off x="731520" y="1828800"/>
            <a:ext cx="548640" cy="548640"/>
          </a:xfrm>
          <a:prstGeom prst="ellipse">
            <a:avLst/>
          </a:prstGeom>
          <a:solidFill>
            <a:srgbClr val="2E1437"/>
          </a:solidFill>
          <a:ln w="38100">
            <a:solidFill>
              <a:srgbClr val="FFFFFF"/>
            </a:solidFill>
            <a:prstDash val="solid"/>
          </a:ln>
        </p:spPr>
      </p:sp>
      <p:sp>
        <p:nvSpPr>
          <p:cNvPr id="12" name="Text 9"/>
          <p:cNvSpPr txBox="1"/>
          <p:nvPr/>
        </p:nvSpPr>
        <p:spPr>
          <a:xfrm>
            <a:off x="7315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3" name="Text 10"/>
          <p:cNvSpPr txBox="1"/>
          <p:nvPr/>
        </p:nvSpPr>
        <p:spPr>
          <a:xfrm>
            <a:off x="4572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Welcome</a:t>
            </a:r>
            <a:endParaRPr lang="en-US" sz="1400" dirty="0"/>
          </a:p>
        </p:txBody>
      </p:sp>
      <p:sp>
        <p:nvSpPr>
          <p:cNvPr id="14" name="Text 11"/>
          <p:cNvSpPr txBox="1"/>
          <p:nvPr/>
        </p:nvSpPr>
        <p:spPr>
          <a:xfrm>
            <a:off x="4572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Project overview</a:t>
            </a:r>
            <a:endParaRPr lang="en-US" sz="1200" dirty="0"/>
          </a:p>
        </p:txBody>
      </p:sp>
      <p:sp>
        <p:nvSpPr>
          <p:cNvPr id="15" name="Shape 12"/>
          <p:cNvSpPr/>
          <p:nvPr/>
        </p:nvSpPr>
        <p:spPr>
          <a:xfrm>
            <a:off x="2103120" y="1828800"/>
            <a:ext cx="548640" cy="548640"/>
          </a:xfrm>
          <a:prstGeom prst="ellipse">
            <a:avLst/>
          </a:prstGeom>
          <a:solidFill>
            <a:srgbClr val="2E1437"/>
          </a:solidFill>
          <a:ln w="38100">
            <a:solidFill>
              <a:srgbClr val="FFFFFF"/>
            </a:solidFill>
            <a:prstDash val="solid"/>
          </a:ln>
        </p:spPr>
      </p:sp>
      <p:sp>
        <p:nvSpPr>
          <p:cNvPr id="16" name="Text 13"/>
          <p:cNvSpPr txBox="1"/>
          <p:nvPr/>
        </p:nvSpPr>
        <p:spPr>
          <a:xfrm>
            <a:off x="21031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Text 14"/>
          <p:cNvSpPr txBox="1"/>
          <p:nvPr/>
        </p:nvSpPr>
        <p:spPr>
          <a:xfrm>
            <a:off x="18288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The Problem</a:t>
            </a:r>
            <a:endParaRPr lang="en-US" sz="1400" dirty="0"/>
          </a:p>
        </p:txBody>
      </p:sp>
      <p:sp>
        <p:nvSpPr>
          <p:cNvPr id="18" name="Text 15"/>
          <p:cNvSpPr txBox="1"/>
          <p:nvPr/>
        </p:nvSpPr>
        <p:spPr>
          <a:xfrm>
            <a:off x="18288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Research and pain map</a:t>
            </a:r>
            <a:endParaRPr lang="en-US" sz="1200" dirty="0"/>
          </a:p>
        </p:txBody>
      </p:sp>
      <p:sp>
        <p:nvSpPr>
          <p:cNvPr id="19" name="Shape 16"/>
          <p:cNvSpPr/>
          <p:nvPr/>
        </p:nvSpPr>
        <p:spPr>
          <a:xfrm>
            <a:off x="3474720" y="1828800"/>
            <a:ext cx="548640" cy="548640"/>
          </a:xfrm>
          <a:prstGeom prst="ellipse">
            <a:avLst/>
          </a:prstGeom>
          <a:solidFill>
            <a:srgbClr val="2E1437"/>
          </a:solidFill>
          <a:ln w="38100">
            <a:solidFill>
              <a:srgbClr val="FFFFFF"/>
            </a:solidFill>
            <a:prstDash val="solid"/>
          </a:ln>
        </p:spPr>
      </p:sp>
      <p:sp>
        <p:nvSpPr>
          <p:cNvPr id="20" name="Text 17"/>
          <p:cNvSpPr txBox="1"/>
          <p:nvPr/>
        </p:nvSpPr>
        <p:spPr>
          <a:xfrm>
            <a:off x="34747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8"/>
          <p:cNvSpPr txBox="1"/>
          <p:nvPr/>
        </p:nvSpPr>
        <p:spPr>
          <a:xfrm>
            <a:off x="32004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The Niche</a:t>
            </a:r>
            <a:endParaRPr lang="en-US" sz="1400" dirty="0"/>
          </a:p>
        </p:txBody>
      </p:sp>
      <p:sp>
        <p:nvSpPr>
          <p:cNvPr id="22" name="Text 19"/>
          <p:cNvSpPr txBox="1"/>
          <p:nvPr/>
        </p:nvSpPr>
        <p:spPr>
          <a:xfrm>
            <a:off x="32004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Why second-hand</a:t>
            </a:r>
            <a:endParaRPr lang="en-US" sz="1200" dirty="0"/>
          </a:p>
        </p:txBody>
      </p:sp>
      <p:sp>
        <p:nvSpPr>
          <p:cNvPr id="23" name="Shape 20"/>
          <p:cNvSpPr/>
          <p:nvPr/>
        </p:nvSpPr>
        <p:spPr>
          <a:xfrm>
            <a:off x="4846320" y="1828800"/>
            <a:ext cx="548640" cy="548640"/>
          </a:xfrm>
          <a:prstGeom prst="ellipse">
            <a:avLst/>
          </a:prstGeom>
          <a:solidFill>
            <a:srgbClr val="2E1437"/>
          </a:solidFill>
          <a:ln w="38100">
            <a:solidFill>
              <a:srgbClr val="FFFFFF"/>
            </a:solidFill>
            <a:prstDash val="solid"/>
          </a:ln>
        </p:spPr>
      </p:sp>
      <p:sp>
        <p:nvSpPr>
          <p:cNvPr id="24" name="Text 21"/>
          <p:cNvSpPr txBox="1"/>
          <p:nvPr/>
        </p:nvSpPr>
        <p:spPr>
          <a:xfrm>
            <a:off x="48463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2"/>
          <p:cNvSpPr txBox="1"/>
          <p:nvPr/>
        </p:nvSpPr>
        <p:spPr>
          <a:xfrm>
            <a:off x="45720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The Solution</a:t>
            </a:r>
            <a:endParaRPr lang="en-US" sz="1400" dirty="0"/>
          </a:p>
        </p:txBody>
      </p:sp>
      <p:sp>
        <p:nvSpPr>
          <p:cNvPr id="26" name="Text 23"/>
          <p:cNvSpPr txBox="1"/>
          <p:nvPr/>
        </p:nvSpPr>
        <p:spPr>
          <a:xfrm>
            <a:off x="45720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4-step AI flow</a:t>
            </a:r>
            <a:endParaRPr lang="en-US" sz="1200" dirty="0"/>
          </a:p>
        </p:txBody>
      </p:sp>
      <p:sp>
        <p:nvSpPr>
          <p:cNvPr id="27" name="Shape 24"/>
          <p:cNvSpPr/>
          <p:nvPr/>
        </p:nvSpPr>
        <p:spPr>
          <a:xfrm>
            <a:off x="6217920" y="1828800"/>
            <a:ext cx="548640" cy="548640"/>
          </a:xfrm>
          <a:prstGeom prst="ellipse">
            <a:avLst/>
          </a:prstGeom>
          <a:solidFill>
            <a:srgbClr val="2E1437"/>
          </a:solidFill>
          <a:ln w="38100">
            <a:solidFill>
              <a:srgbClr val="FFFFFF"/>
            </a:solidFill>
            <a:prstDash val="solid"/>
          </a:ln>
        </p:spPr>
      </p:sp>
      <p:sp>
        <p:nvSpPr>
          <p:cNvPr id="28" name="Text 25"/>
          <p:cNvSpPr txBox="1"/>
          <p:nvPr/>
        </p:nvSpPr>
        <p:spPr>
          <a:xfrm>
            <a:off x="62179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6"/>
          <p:cNvSpPr txBox="1"/>
          <p:nvPr/>
        </p:nvSpPr>
        <p:spPr>
          <a:xfrm>
            <a:off x="59436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Responsible AI</a:t>
            </a:r>
            <a:endParaRPr lang="en-US" sz="1400" dirty="0"/>
          </a:p>
        </p:txBody>
      </p:sp>
      <p:sp>
        <p:nvSpPr>
          <p:cNvPr id="30" name="Text 27"/>
          <p:cNvSpPr txBox="1"/>
          <p:nvPr/>
        </p:nvSpPr>
        <p:spPr>
          <a:xfrm>
            <a:off x="59436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Principles and rivals</a:t>
            </a:r>
            <a:endParaRPr lang="en-US" sz="1200" dirty="0"/>
          </a:p>
        </p:txBody>
      </p:sp>
      <p:sp>
        <p:nvSpPr>
          <p:cNvPr id="31" name="Shape 28"/>
          <p:cNvSpPr/>
          <p:nvPr/>
        </p:nvSpPr>
        <p:spPr>
          <a:xfrm>
            <a:off x="7589520" y="1828800"/>
            <a:ext cx="548640" cy="548640"/>
          </a:xfrm>
          <a:prstGeom prst="ellipse">
            <a:avLst/>
          </a:prstGeom>
          <a:solidFill>
            <a:srgbClr val="E23E7A"/>
          </a:solidFill>
          <a:ln w="38100">
            <a:solidFill>
              <a:srgbClr val="FFFFFF"/>
            </a:solidFill>
            <a:prstDash val="solid"/>
          </a:ln>
        </p:spPr>
      </p:sp>
      <p:sp>
        <p:nvSpPr>
          <p:cNvPr id="32" name="Text 29"/>
          <p:cNvSpPr txBox="1"/>
          <p:nvPr/>
        </p:nvSpPr>
        <p:spPr>
          <a:xfrm>
            <a:off x="75895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0"/>
          <p:cNvSpPr txBox="1"/>
          <p:nvPr/>
        </p:nvSpPr>
        <p:spPr>
          <a:xfrm>
            <a:off x="7315200" y="2606040"/>
            <a:ext cx="1097280" cy="548640"/>
          </a:xfrm>
          <a:prstGeom prst="rect">
            <a:avLst/>
          </a:prstGeom>
          <a:noFill/>
          <a:ln/>
        </p:spPr>
        <p:txBody>
          <a:bodyPr wrap="square" lIns="0" tIns="0" rIns="0" bIns="0" rtlCol="0" anchor="t"/>
          <a:lstStyle/>
          <a:p>
            <a:pPr algn="ctr" indent="0" marL="0">
              <a:buNone/>
            </a:pPr>
            <a:r>
              <a:rPr lang="en-US" sz="1400" b="1" dirty="0">
                <a:solidFill>
                  <a:srgbClr val="2E1437"/>
                </a:solidFill>
                <a:latin typeface="Cambria" pitchFamily="34" charset="0"/>
                <a:ea typeface="Cambria" pitchFamily="34" charset="-122"/>
                <a:cs typeface="Cambria" pitchFamily="34" charset="-120"/>
              </a:rPr>
              <a:t>The Pitch</a:t>
            </a:r>
            <a:endParaRPr lang="en-US" sz="1400" dirty="0"/>
          </a:p>
        </p:txBody>
      </p:sp>
      <p:sp>
        <p:nvSpPr>
          <p:cNvPr id="34" name="Text 31"/>
          <p:cNvSpPr txBox="1"/>
          <p:nvPr/>
        </p:nvSpPr>
        <p:spPr>
          <a:xfrm>
            <a:off x="7315200" y="3200400"/>
            <a:ext cx="1097280" cy="548640"/>
          </a:xfrm>
          <a:prstGeom prst="rect">
            <a:avLst/>
          </a:prstGeom>
          <a:noFill/>
          <a:ln/>
        </p:spPr>
        <p:txBody>
          <a:bodyPr wrap="square" lIns="0" tIns="0" rIns="0" bIns="0" rtlCol="0" anchor="t"/>
          <a:lstStyle/>
          <a:p>
            <a:pPr algn="ctr" indent="0" marL="0">
              <a:buNone/>
            </a:pPr>
            <a:r>
              <a:rPr lang="en-US" sz="1200" dirty="0">
                <a:solidFill>
                  <a:srgbClr val="6B5F73"/>
                </a:solidFill>
                <a:latin typeface="Calibri" pitchFamily="34" charset="0"/>
                <a:ea typeface="Calibri" pitchFamily="34" charset="-122"/>
                <a:cs typeface="Calibri" pitchFamily="34" charset="-120"/>
              </a:rPr>
              <a:t>Deliver and Q&amp;A</a:t>
            </a:r>
            <a:endParaRPr lang="en-US" sz="1200" dirty="0"/>
          </a:p>
        </p:txBody>
      </p:sp>
      <p:sp>
        <p:nvSpPr>
          <p:cNvPr id="35" name="Text 32"/>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500" i="1" dirty="0">
                <a:solidFill>
                  <a:srgbClr val="2E1437"/>
                </a:solidFill>
                <a:latin typeface="Calibri" pitchFamily="34" charset="0"/>
                <a:ea typeface="Calibri" pitchFamily="34" charset="-122"/>
                <a:cs typeface="Calibri" pitchFamily="34" charset="-120"/>
              </a:rPr>
              <a:t>Each section ends with a hands-on exercise that builds your final pitch.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F9"/>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2  ·  THE PROBLEM</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Sizes do not mean what we think</a:t>
            </a:r>
            <a:endParaRPr lang="en-US" sz="3400" dirty="0"/>
          </a:p>
        </p:txBody>
      </p:sp>
      <p:sp>
        <p:nvSpPr>
          <p:cNvPr id="5" name="Shape 2"/>
          <p:cNvSpPr/>
          <p:nvPr/>
        </p:nvSpPr>
        <p:spPr>
          <a:xfrm>
            <a:off x="457200" y="1280160"/>
            <a:ext cx="3291840" cy="3383280"/>
          </a:xfrm>
          <a:prstGeom prst="roundRect">
            <a:avLst>
              <a:gd name="adj" fmla="val 4167"/>
            </a:avLst>
          </a:prstGeom>
          <a:solidFill>
            <a:srgbClr val="2E1437"/>
          </a:solidFill>
          <a:ln w="12700">
            <a:solidFill>
              <a:srgbClr val="2E1437"/>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457200" y="1554480"/>
            <a:ext cx="3291840" cy="1097280"/>
          </a:xfrm>
          <a:prstGeom prst="rect">
            <a:avLst/>
          </a:prstGeom>
          <a:noFill/>
          <a:ln/>
        </p:spPr>
        <p:txBody>
          <a:bodyPr wrap="square" lIns="0" tIns="0" rIns="0" bIns="0" rtlCol="0" anchor="ctr"/>
          <a:lstStyle/>
          <a:p>
            <a:pPr algn="ctr" indent="0" marL="0">
              <a:buNone/>
            </a:pPr>
            <a:r>
              <a:rPr lang="en-US" sz="6400" b="1" dirty="0">
                <a:solidFill>
                  <a:srgbClr val="F5B942"/>
                </a:solidFill>
                <a:latin typeface="Cambria" pitchFamily="34" charset="0"/>
                <a:ea typeface="Cambria" pitchFamily="34" charset="-122"/>
                <a:cs typeface="Cambria" pitchFamily="34" charset="-120"/>
              </a:rPr>
              <a:t>~70%</a:t>
            </a:r>
            <a:endParaRPr lang="en-US" sz="6400" dirty="0"/>
          </a:p>
        </p:txBody>
      </p:sp>
      <p:sp>
        <p:nvSpPr>
          <p:cNvPr id="7" name="Text 4"/>
          <p:cNvSpPr txBox="1"/>
          <p:nvPr/>
        </p:nvSpPr>
        <p:spPr>
          <a:xfrm>
            <a:off x="731520" y="2697480"/>
            <a:ext cx="2743200" cy="8229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of online clothing returns are due to sizing issues</a:t>
            </a:r>
            <a:endParaRPr lang="en-US" sz="1600" dirty="0"/>
          </a:p>
        </p:txBody>
      </p:sp>
      <p:sp>
        <p:nvSpPr>
          <p:cNvPr id="8" name="Text 5"/>
          <p:cNvSpPr txBox="1"/>
          <p:nvPr/>
        </p:nvSpPr>
        <p:spPr>
          <a:xfrm>
            <a:off x="731520" y="3703320"/>
            <a:ext cx="2743200" cy="731520"/>
          </a:xfrm>
          <a:prstGeom prst="rect">
            <a:avLst/>
          </a:prstGeom>
          <a:noFill/>
          <a:ln/>
        </p:spPr>
        <p:txBody>
          <a:bodyPr wrap="square" lIns="0" tIns="0" rIns="0" bIns="0" rtlCol="0" anchor="t"/>
          <a:lstStyle/>
          <a:p>
            <a:pPr algn="ctr" indent="0" marL="0">
              <a:buNone/>
            </a:pPr>
            <a:r>
              <a:rPr lang="en-US" sz="1300" i="1" dirty="0">
                <a:solidFill>
                  <a:srgbClr val="E9D8F0"/>
                </a:solidFill>
                <a:latin typeface="Calibri" pitchFamily="34" charset="0"/>
                <a:ea typeface="Calibri" pitchFamily="34" charset="-122"/>
                <a:cs typeface="Calibri" pitchFamily="34" charset="-120"/>
              </a:rPr>
              <a:t>A size 12 differs by country, brand and decade.</a:t>
            </a:r>
            <a:endParaRPr lang="en-US" sz="1300" dirty="0"/>
          </a:p>
        </p:txBody>
      </p:sp>
      <p:sp>
        <p:nvSpPr>
          <p:cNvPr id="9" name="Shape 6"/>
          <p:cNvSpPr/>
          <p:nvPr/>
        </p:nvSpPr>
        <p:spPr>
          <a:xfrm>
            <a:off x="4114800" y="1280160"/>
            <a:ext cx="2194560" cy="3383280"/>
          </a:xfrm>
          <a:prstGeom prst="roundRect">
            <a:avLst>
              <a:gd name="adj" fmla="val 625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343400" y="1508760"/>
            <a:ext cx="548640" cy="548640"/>
          </a:xfrm>
          <a:prstGeom prst="ellipse">
            <a:avLst/>
          </a:prstGeom>
          <a:solidFill>
            <a:srgbClr val="FBE4EE"/>
          </a:solidFill>
          <a:ln w="12700">
            <a:solidFill>
              <a:srgbClr val="FBE4EE"/>
            </a:solidFill>
            <a:prstDash val="solid"/>
          </a:ln>
        </p:spPr>
      </p:sp>
      <p:pic>
        <p:nvPicPr>
          <p:cNvPr id="11" name="Image 0" descr="preencoded.png">    </p:cNvPr>
          <p:cNvPicPr>
            <a:picLocks noChangeAspect="1"/>
          </p:cNvPicPr>
          <p:nvPr/>
        </p:nvPicPr>
        <p:blipFill>
          <a:blip r:embed="rId1"/>
          <a:stretch>
            <a:fillRect/>
          </a:stretch>
        </p:blipFill>
        <p:spPr>
          <a:xfrm>
            <a:off x="4480560" y="1645920"/>
            <a:ext cx="274320" cy="274320"/>
          </a:xfrm>
          <a:prstGeom prst="rect">
            <a:avLst/>
          </a:prstGeom>
        </p:spPr>
      </p:pic>
      <p:sp>
        <p:nvSpPr>
          <p:cNvPr id="12" name="Text 8"/>
          <p:cNvSpPr txBox="1"/>
          <p:nvPr/>
        </p:nvSpPr>
        <p:spPr>
          <a:xfrm>
            <a:off x="4343400" y="2194560"/>
            <a:ext cx="182880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The customer</a:t>
            </a:r>
            <a:endParaRPr lang="en-US" sz="1800" dirty="0"/>
          </a:p>
        </p:txBody>
      </p:sp>
      <p:sp>
        <p:nvSpPr>
          <p:cNvPr id="13" name="Text 9"/>
          <p:cNvSpPr txBox="1"/>
          <p:nvPr/>
        </p:nvSpPr>
        <p:spPr>
          <a:xfrm>
            <a:off x="4343400" y="2697480"/>
            <a:ext cx="182880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Wasted money</a:t>
            </a:r>
            <a:endParaRPr lang="en-US" sz="1500" dirty="0"/>
          </a:p>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Return shipping costs</a:t>
            </a:r>
            <a:endParaRPr lang="en-US" sz="1500" dirty="0"/>
          </a:p>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Lost time</a:t>
            </a:r>
            <a:endParaRPr lang="en-US" sz="1500" dirty="0"/>
          </a:p>
        </p:txBody>
      </p:sp>
      <p:sp>
        <p:nvSpPr>
          <p:cNvPr id="14" name="Shape 10"/>
          <p:cNvSpPr/>
          <p:nvPr/>
        </p:nvSpPr>
        <p:spPr>
          <a:xfrm>
            <a:off x="6492240" y="1280160"/>
            <a:ext cx="2194560" cy="3383280"/>
          </a:xfrm>
          <a:prstGeom prst="roundRect">
            <a:avLst>
              <a:gd name="adj" fmla="val 625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720840" y="1508760"/>
            <a:ext cx="548640" cy="548640"/>
          </a:xfrm>
          <a:prstGeom prst="ellipse">
            <a:avLst/>
          </a:prstGeom>
          <a:solidFill>
            <a:srgbClr val="FBE4EE"/>
          </a:solidFill>
          <a:ln w="12700">
            <a:solidFill>
              <a:srgbClr val="FBE4EE"/>
            </a:solidFill>
            <a:prstDash val="solid"/>
          </a:ln>
        </p:spPr>
      </p:sp>
      <p:pic>
        <p:nvPicPr>
          <p:cNvPr id="16" name="Image 1" descr="preencoded.png">    </p:cNvPr>
          <p:cNvPicPr>
            <a:picLocks noChangeAspect="1"/>
          </p:cNvPicPr>
          <p:nvPr/>
        </p:nvPicPr>
        <p:blipFill>
          <a:blip r:embed="rId2"/>
          <a:stretch>
            <a:fillRect/>
          </a:stretch>
        </p:blipFill>
        <p:spPr>
          <a:xfrm>
            <a:off x="6858000" y="1645920"/>
            <a:ext cx="274320" cy="274320"/>
          </a:xfrm>
          <a:prstGeom prst="rect">
            <a:avLst/>
          </a:prstGeom>
        </p:spPr>
      </p:pic>
      <p:sp>
        <p:nvSpPr>
          <p:cNvPr id="17" name="Text 12"/>
          <p:cNvSpPr txBox="1"/>
          <p:nvPr/>
        </p:nvSpPr>
        <p:spPr>
          <a:xfrm>
            <a:off x="6720840" y="2194560"/>
            <a:ext cx="182880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The business</a:t>
            </a:r>
            <a:endParaRPr lang="en-US" sz="1800" dirty="0"/>
          </a:p>
        </p:txBody>
      </p:sp>
      <p:sp>
        <p:nvSpPr>
          <p:cNvPr id="18" name="Text 13"/>
          <p:cNvSpPr txBox="1"/>
          <p:nvPr/>
        </p:nvSpPr>
        <p:spPr>
          <a:xfrm>
            <a:off x="6720840" y="2697480"/>
            <a:ext cx="182880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Shipping and handling</a:t>
            </a:r>
            <a:endParaRPr lang="en-US" sz="1500" dirty="0"/>
          </a:p>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Stock tied up</a:t>
            </a:r>
            <a:endParaRPr lang="en-US" sz="1500" dirty="0"/>
          </a:p>
          <a:p>
            <a:pPr marL="342900" indent="-342900">
              <a:spcAft>
                <a:spcPts val="800"/>
              </a:spcAft>
              <a:buSzPct val="100000"/>
              <a:buChar char="•"/>
            </a:pPr>
            <a:r>
              <a:rPr lang="en-US" sz="1500" dirty="0">
                <a:solidFill>
                  <a:srgbClr val="2A2030"/>
                </a:solidFill>
                <a:latin typeface="Calibri" pitchFamily="34" charset="0"/>
                <a:ea typeface="Calibri" pitchFamily="34" charset="-122"/>
                <a:cs typeface="Calibri" pitchFamily="34" charset="-120"/>
              </a:rPr>
              <a:t>Lost trust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3  ·  THE NICHE</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Why second-hand?</a:t>
            </a:r>
            <a:endParaRPr lang="en-US" sz="3400" dirty="0"/>
          </a:p>
        </p:txBody>
      </p:sp>
      <p:sp>
        <p:nvSpPr>
          <p:cNvPr id="5" name="Shape 2"/>
          <p:cNvSpPr/>
          <p:nvPr/>
        </p:nvSpPr>
        <p:spPr>
          <a:xfrm>
            <a:off x="457200" y="1280160"/>
            <a:ext cx="3931920" cy="2468880"/>
          </a:xfrm>
          <a:prstGeom prst="roundRect">
            <a:avLst>
              <a:gd name="adj" fmla="val 5556"/>
            </a:avLst>
          </a:prstGeom>
          <a:solidFill>
            <a:srgbClr val="F7F2F9"/>
          </a:solidFill>
          <a:ln w="12700">
            <a:solidFill>
              <a:srgbClr val="F7F2F9"/>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731520" y="1508760"/>
            <a:ext cx="548640" cy="548640"/>
          </a:xfrm>
          <a:prstGeom prst="ellipse">
            <a:avLst/>
          </a:prstGeom>
          <a:solidFill>
            <a:srgbClr val="2E1437"/>
          </a:solidFill>
          <a:ln w="12700">
            <a:solidFill>
              <a:srgbClr val="2E1437"/>
            </a:solidFill>
            <a:prstDash val="solid"/>
          </a:ln>
        </p:spPr>
      </p:sp>
      <p:pic>
        <p:nvPicPr>
          <p:cNvPr id="7" name="Image 0" descr="preencoded.png">    </p:cNvPr>
          <p:cNvPicPr>
            <a:picLocks noChangeAspect="1"/>
          </p:cNvPicPr>
          <p:nvPr/>
        </p:nvPicPr>
        <p:blipFill>
          <a:blip r:embed="rId1"/>
          <a:stretch>
            <a:fillRect/>
          </a:stretch>
        </p:blipFill>
        <p:spPr>
          <a:xfrm>
            <a:off x="868680" y="1645920"/>
            <a:ext cx="274320" cy="274320"/>
          </a:xfrm>
          <a:prstGeom prst="rect">
            <a:avLst/>
          </a:prstGeom>
        </p:spPr>
      </p:pic>
      <p:sp>
        <p:nvSpPr>
          <p:cNvPr id="8" name="Text 4"/>
          <p:cNvSpPr txBox="1"/>
          <p:nvPr/>
        </p:nvSpPr>
        <p:spPr>
          <a:xfrm>
            <a:off x="1417320" y="1508760"/>
            <a:ext cx="2743200" cy="548640"/>
          </a:xfrm>
          <a:prstGeom prst="rect">
            <a:avLst/>
          </a:prstGeom>
          <a:noFill/>
          <a:ln/>
        </p:spPr>
        <p:txBody>
          <a:bodyPr wrap="square" lIns="0" tIns="0" rIns="0" bIns="0" rtlCol="0" anchor="ctr"/>
          <a:lstStyle/>
          <a:p>
            <a:pPr indent="0" marL="0">
              <a:buNone/>
            </a:pPr>
            <a:r>
              <a:rPr lang="en-US" sz="2000" b="1" dirty="0">
                <a:solidFill>
                  <a:srgbClr val="2E1437"/>
                </a:solidFill>
                <a:latin typeface="Cambria" pitchFamily="34" charset="0"/>
                <a:ea typeface="Cambria" pitchFamily="34" charset="-122"/>
                <a:cs typeface="Cambria" pitchFamily="34" charset="-120"/>
              </a:rPr>
              <a:t>Mainstream retailer</a:t>
            </a:r>
            <a:endParaRPr lang="en-US" sz="2000" dirty="0"/>
          </a:p>
        </p:txBody>
      </p:sp>
      <p:sp>
        <p:nvSpPr>
          <p:cNvPr id="9" name="Text 5"/>
          <p:cNvSpPr txBox="1"/>
          <p:nvPr/>
        </p:nvSpPr>
        <p:spPr>
          <a:xfrm>
            <a:off x="731520" y="2286000"/>
            <a:ext cx="33832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2030"/>
                </a:solidFill>
                <a:latin typeface="Calibri" pitchFamily="34" charset="0"/>
                <a:ea typeface="Calibri" pitchFamily="34" charset="-122"/>
                <a:cs typeface="Calibri" pitchFamily="34" charset="-120"/>
              </a:rPr>
              <a:t>Order two sizes</a:t>
            </a:r>
            <a:endParaRPr lang="en-US" sz="1500" dirty="0"/>
          </a:p>
          <a:p>
            <a:pPr marL="342900" indent="-342900">
              <a:spcAft>
                <a:spcPts val="600"/>
              </a:spcAft>
              <a:buSzPct val="100000"/>
              <a:buChar char="•"/>
            </a:pPr>
            <a:r>
              <a:rPr lang="en-US" sz="1500" dirty="0">
                <a:solidFill>
                  <a:srgbClr val="2A2030"/>
                </a:solidFill>
                <a:latin typeface="Calibri" pitchFamily="34" charset="0"/>
                <a:ea typeface="Calibri" pitchFamily="34" charset="-122"/>
                <a:cs typeface="Calibri" pitchFamily="34" charset="-120"/>
              </a:rPr>
              <a:t>Return the wrong one</a:t>
            </a:r>
            <a:endParaRPr lang="en-US" sz="1500" dirty="0"/>
          </a:p>
          <a:p>
            <a:pPr marL="342900" indent="-342900">
              <a:spcAft>
                <a:spcPts val="600"/>
              </a:spcAft>
              <a:buSzPct val="100000"/>
              <a:buChar char="•"/>
            </a:pPr>
            <a:r>
              <a:rPr lang="en-US" sz="1500" dirty="0">
                <a:solidFill>
                  <a:srgbClr val="2A2030"/>
                </a:solidFill>
                <a:latin typeface="Calibri" pitchFamily="34" charset="0"/>
                <a:ea typeface="Calibri" pitchFamily="34" charset="-122"/>
                <a:cs typeface="Calibri" pitchFamily="34" charset="-120"/>
              </a:rPr>
              <a:t>Brand size charts exist</a:t>
            </a:r>
            <a:endParaRPr lang="en-US" sz="1500" dirty="0"/>
          </a:p>
        </p:txBody>
      </p:sp>
      <p:sp>
        <p:nvSpPr>
          <p:cNvPr id="10" name="Shape 6"/>
          <p:cNvSpPr/>
          <p:nvPr/>
        </p:nvSpPr>
        <p:spPr>
          <a:xfrm>
            <a:off x="4663440" y="1280160"/>
            <a:ext cx="3931920" cy="2468880"/>
          </a:xfrm>
          <a:prstGeom prst="roundRect">
            <a:avLst>
              <a:gd name="adj" fmla="val 5556"/>
            </a:avLst>
          </a:prstGeom>
          <a:solidFill>
            <a:srgbClr val="2E1437"/>
          </a:solidFill>
          <a:ln w="12700">
            <a:solidFill>
              <a:srgbClr val="2E1437"/>
            </a:solidFill>
            <a:prstDash val="solid"/>
          </a:ln>
          <a:effectLst>
            <a:outerShdw sx="100000" sy="100000" kx="0" ky="0" algn="bl" rotWithShape="0" blurRad="101600" dist="25400" dir="5400000">
              <a:srgbClr val="000000">
                <a:alpha val="12000"/>
              </a:srgbClr>
            </a:outerShdw>
          </a:effectLst>
        </p:spPr>
      </p:sp>
      <p:sp>
        <p:nvSpPr>
          <p:cNvPr id="11" name="Shape 7"/>
          <p:cNvSpPr/>
          <p:nvPr/>
        </p:nvSpPr>
        <p:spPr>
          <a:xfrm>
            <a:off x="4937760" y="1508760"/>
            <a:ext cx="548640" cy="548640"/>
          </a:xfrm>
          <a:prstGeom prst="ellipse">
            <a:avLst/>
          </a:prstGeom>
          <a:solidFill>
            <a:srgbClr val="E23E7A"/>
          </a:solidFill>
          <a:ln w="12700">
            <a:solidFill>
              <a:srgbClr val="E23E7A"/>
            </a:solidFill>
            <a:prstDash val="solid"/>
          </a:ln>
        </p:spPr>
      </p:sp>
      <p:pic>
        <p:nvPicPr>
          <p:cNvPr id="12" name="Image 1" descr="preencoded.png">    </p:cNvPr>
          <p:cNvPicPr>
            <a:picLocks noChangeAspect="1"/>
          </p:cNvPicPr>
          <p:nvPr/>
        </p:nvPicPr>
        <p:blipFill>
          <a:blip r:embed="rId2"/>
          <a:stretch>
            <a:fillRect/>
          </a:stretch>
        </p:blipFill>
        <p:spPr>
          <a:xfrm>
            <a:off x="5074920" y="1645920"/>
            <a:ext cx="274320" cy="274320"/>
          </a:xfrm>
          <a:prstGeom prst="rect">
            <a:avLst/>
          </a:prstGeom>
        </p:spPr>
      </p:pic>
      <p:sp>
        <p:nvSpPr>
          <p:cNvPr id="13" name="Text 8"/>
          <p:cNvSpPr txBox="1"/>
          <p:nvPr/>
        </p:nvSpPr>
        <p:spPr>
          <a:xfrm>
            <a:off x="5623560" y="1508760"/>
            <a:ext cx="274320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Second-hand</a:t>
            </a:r>
            <a:endParaRPr lang="en-US" sz="2000" dirty="0"/>
          </a:p>
        </p:txBody>
      </p:sp>
      <p:sp>
        <p:nvSpPr>
          <p:cNvPr id="14" name="Text 9"/>
          <p:cNvSpPr txBox="1"/>
          <p:nvPr/>
        </p:nvSpPr>
        <p:spPr>
          <a:xfrm>
            <a:off x="4937760" y="2286000"/>
            <a:ext cx="33832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One unique item</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No exchange, often no return</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Seller may not measure; tags faded or missing</a:t>
            </a:r>
            <a:endParaRPr lang="en-US" sz="1500" dirty="0"/>
          </a:p>
        </p:txBody>
      </p:sp>
      <p:sp>
        <p:nvSpPr>
          <p:cNvPr id="15" name="Shape 10"/>
          <p:cNvSpPr/>
          <p:nvPr/>
        </p:nvSpPr>
        <p:spPr>
          <a:xfrm>
            <a:off x="457200" y="3977640"/>
            <a:ext cx="8229600" cy="731520"/>
          </a:xfrm>
          <a:prstGeom prst="roundRect">
            <a:avLst>
              <a:gd name="adj" fmla="val 15000"/>
            </a:avLst>
          </a:prstGeom>
          <a:solidFill>
            <a:srgbClr val="FBE4EE"/>
          </a:solidFill>
          <a:ln w="12700">
            <a:solidFill>
              <a:srgbClr val="FBE4EE"/>
            </a:solidFill>
            <a:prstDash val="solid"/>
          </a:ln>
        </p:spPr>
      </p:sp>
      <p:sp>
        <p:nvSpPr>
          <p:cNvPr id="16" name="Text 11"/>
          <p:cNvSpPr txBox="1"/>
          <p:nvPr/>
        </p:nvSpPr>
        <p:spPr>
          <a:xfrm>
            <a:off x="685800" y="3977640"/>
            <a:ext cx="7772400" cy="731520"/>
          </a:xfrm>
          <a:prstGeom prst="rect">
            <a:avLst/>
          </a:prstGeom>
          <a:noFill/>
          <a:ln/>
        </p:spPr>
        <p:txBody>
          <a:bodyPr wrap="square" lIns="0" tIns="0" rIns="0" bIns="0" rtlCol="0" anchor="ctr"/>
          <a:lstStyle/>
          <a:p>
            <a:pPr indent="0" marL="0">
              <a:buNone/>
            </a:pPr>
            <a:r>
              <a:rPr lang="en-US" sz="1400" dirty="0">
                <a:solidFill>
                  <a:srgbClr val="2E1437"/>
                </a:solidFill>
                <a:latin typeface="Calibri" pitchFamily="34" charset="0"/>
                <a:ea typeface="Calibri" pitchFamily="34" charset="-122"/>
                <a:cs typeface="Calibri" pitchFamily="34" charset="-120"/>
              </a:rPr>
              <a:t>A wrong-size buy ends up unused or in the bin, and the sustainability benefit disappears. Demand is growing; confidence is missing.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F9"/>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4  ·  THE SOLUTION</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Fashion Fits in four steps</a:t>
            </a:r>
            <a:endParaRPr lang="en-US" sz="3400" dirty="0"/>
          </a:p>
        </p:txBody>
      </p:sp>
      <p:sp>
        <p:nvSpPr>
          <p:cNvPr id="5" name="Shape 2"/>
          <p:cNvSpPr/>
          <p:nvPr/>
        </p:nvSpPr>
        <p:spPr>
          <a:xfrm>
            <a:off x="457200" y="1371600"/>
            <a:ext cx="1920240" cy="3017520"/>
          </a:xfrm>
          <a:prstGeom prst="roundRect">
            <a:avLst>
              <a:gd name="adj" fmla="val 714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685800" y="1600200"/>
            <a:ext cx="640080" cy="640080"/>
          </a:xfrm>
          <a:prstGeom prst="ellipse">
            <a:avLst/>
          </a:prstGeom>
          <a:solidFill>
            <a:srgbClr val="2E1437"/>
          </a:solidFill>
          <a:ln w="12700">
            <a:solidFill>
              <a:srgbClr val="2E1437"/>
            </a:solidFill>
            <a:prstDash val="solid"/>
          </a:ln>
        </p:spPr>
      </p:sp>
      <p:pic>
        <p:nvPicPr>
          <p:cNvPr id="7" name="Image 0" descr="preencoded.png">    </p:cNvPr>
          <p:cNvPicPr>
            <a:picLocks noChangeAspect="1"/>
          </p:cNvPicPr>
          <p:nvPr/>
        </p:nvPicPr>
        <p:blipFill>
          <a:blip r:embed="rId1"/>
          <a:stretch>
            <a:fillRect/>
          </a:stretch>
        </p:blipFill>
        <p:spPr>
          <a:xfrm>
            <a:off x="845820" y="1760220"/>
            <a:ext cx="320040" cy="320040"/>
          </a:xfrm>
          <a:prstGeom prst="rect">
            <a:avLst/>
          </a:prstGeom>
        </p:spPr>
      </p:pic>
      <p:sp>
        <p:nvSpPr>
          <p:cNvPr id="8" name="Text 4"/>
          <p:cNvSpPr txBox="1"/>
          <p:nvPr/>
        </p:nvSpPr>
        <p:spPr>
          <a:xfrm>
            <a:off x="685800" y="2423160"/>
            <a:ext cx="1554480" cy="365760"/>
          </a:xfrm>
          <a:prstGeom prst="rect">
            <a:avLst/>
          </a:prstGeom>
          <a:noFill/>
          <a:ln/>
        </p:spPr>
        <p:txBody>
          <a:bodyPr wrap="square" lIns="0" tIns="0" rIns="0" bIns="0" rtlCol="0" anchor="ctr"/>
          <a:lstStyle/>
          <a:p>
            <a:pPr indent="0" marL="0">
              <a:buNone/>
            </a:pPr>
            <a:r>
              <a:rPr lang="en-US" sz="1700" b="1" dirty="0">
                <a:solidFill>
                  <a:srgbClr val="2E1437"/>
                </a:solidFill>
                <a:latin typeface="Cambria" pitchFamily="34" charset="0"/>
                <a:ea typeface="Cambria" pitchFamily="34" charset="-122"/>
                <a:cs typeface="Cambria" pitchFamily="34" charset="-120"/>
              </a:rPr>
              <a:t>1  The tag</a:t>
            </a:r>
            <a:endParaRPr lang="en-US" sz="1700" dirty="0"/>
          </a:p>
        </p:txBody>
      </p:sp>
      <p:sp>
        <p:nvSpPr>
          <p:cNvPr id="9" name="Text 5"/>
          <p:cNvSpPr txBox="1"/>
          <p:nvPr/>
        </p:nvSpPr>
        <p:spPr>
          <a:xfrm>
            <a:off x="685800" y="2834640"/>
            <a:ext cx="1554480" cy="146304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Take a simple photo of the clothing tag. No tape measure, no forms.</a:t>
            </a:r>
            <a:endParaRPr lang="en-US" sz="1300" dirty="0"/>
          </a:p>
        </p:txBody>
      </p:sp>
      <p:pic>
        <p:nvPicPr>
          <p:cNvPr id="10" name="Image 1" descr="preencoded.png">    </p:cNvPr>
          <p:cNvPicPr>
            <a:picLocks noChangeAspect="1"/>
          </p:cNvPicPr>
          <p:nvPr/>
        </p:nvPicPr>
        <p:blipFill>
          <a:blip r:embed="rId2"/>
          <a:stretch>
            <a:fillRect/>
          </a:stretch>
        </p:blipFill>
        <p:spPr>
          <a:xfrm>
            <a:off x="2395728" y="2743200"/>
            <a:ext cx="146304" cy="146304"/>
          </a:xfrm>
          <a:prstGeom prst="rect">
            <a:avLst/>
          </a:prstGeom>
        </p:spPr>
      </p:pic>
      <p:sp>
        <p:nvSpPr>
          <p:cNvPr id="11" name="Shape 6"/>
          <p:cNvSpPr/>
          <p:nvPr/>
        </p:nvSpPr>
        <p:spPr>
          <a:xfrm>
            <a:off x="2560320" y="1371600"/>
            <a:ext cx="1920240" cy="3017520"/>
          </a:xfrm>
          <a:prstGeom prst="roundRect">
            <a:avLst>
              <a:gd name="adj" fmla="val 714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7"/>
          <p:cNvSpPr/>
          <p:nvPr/>
        </p:nvSpPr>
        <p:spPr>
          <a:xfrm>
            <a:off x="2788920" y="1600200"/>
            <a:ext cx="640080" cy="640080"/>
          </a:xfrm>
          <a:prstGeom prst="ellipse">
            <a:avLst/>
          </a:prstGeom>
          <a:solidFill>
            <a:srgbClr val="2E1437"/>
          </a:solidFill>
          <a:ln w="12700">
            <a:solidFill>
              <a:srgbClr val="2E1437"/>
            </a:solidFill>
            <a:prstDash val="solid"/>
          </a:ln>
        </p:spPr>
      </p:sp>
      <p:pic>
        <p:nvPicPr>
          <p:cNvPr id="13" name="Image 2" descr="preencoded.png">    </p:cNvPr>
          <p:cNvPicPr>
            <a:picLocks noChangeAspect="1"/>
          </p:cNvPicPr>
          <p:nvPr/>
        </p:nvPicPr>
        <p:blipFill>
          <a:blip r:embed="rId3"/>
          <a:stretch>
            <a:fillRect/>
          </a:stretch>
        </p:blipFill>
        <p:spPr>
          <a:xfrm>
            <a:off x="2948940" y="1760220"/>
            <a:ext cx="320040" cy="320040"/>
          </a:xfrm>
          <a:prstGeom prst="rect">
            <a:avLst/>
          </a:prstGeom>
        </p:spPr>
      </p:pic>
      <p:sp>
        <p:nvSpPr>
          <p:cNvPr id="14" name="Text 8"/>
          <p:cNvSpPr txBox="1"/>
          <p:nvPr/>
        </p:nvSpPr>
        <p:spPr>
          <a:xfrm>
            <a:off x="2788920" y="2423160"/>
            <a:ext cx="1554480" cy="365760"/>
          </a:xfrm>
          <a:prstGeom prst="rect">
            <a:avLst/>
          </a:prstGeom>
          <a:noFill/>
          <a:ln/>
        </p:spPr>
        <p:txBody>
          <a:bodyPr wrap="square" lIns="0" tIns="0" rIns="0" bIns="0" rtlCol="0" anchor="ctr"/>
          <a:lstStyle/>
          <a:p>
            <a:pPr indent="0" marL="0">
              <a:buNone/>
            </a:pPr>
            <a:r>
              <a:rPr lang="en-US" sz="1700" b="1" dirty="0">
                <a:solidFill>
                  <a:srgbClr val="2E1437"/>
                </a:solidFill>
                <a:latin typeface="Cambria" pitchFamily="34" charset="0"/>
                <a:ea typeface="Cambria" pitchFamily="34" charset="-122"/>
                <a:cs typeface="Cambria" pitchFamily="34" charset="-120"/>
              </a:rPr>
              <a:t>2  AI reads it</a:t>
            </a:r>
            <a:endParaRPr lang="en-US" sz="1700" dirty="0"/>
          </a:p>
        </p:txBody>
      </p:sp>
      <p:sp>
        <p:nvSpPr>
          <p:cNvPr id="15" name="Text 9"/>
          <p:cNvSpPr txBox="1"/>
          <p:nvPr/>
        </p:nvSpPr>
        <p:spPr>
          <a:xfrm>
            <a:off x="2788920" y="2834640"/>
            <a:ext cx="1554480" cy="146304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Extracts brand, size, country, fabric, then finds the brand size chart.</a:t>
            </a:r>
            <a:endParaRPr lang="en-US" sz="1300" dirty="0"/>
          </a:p>
        </p:txBody>
      </p:sp>
      <p:pic>
        <p:nvPicPr>
          <p:cNvPr id="16" name="Image 3" descr="preencoded.png">    </p:cNvPr>
          <p:cNvPicPr>
            <a:picLocks noChangeAspect="1"/>
          </p:cNvPicPr>
          <p:nvPr/>
        </p:nvPicPr>
        <p:blipFill>
          <a:blip r:embed="rId4"/>
          <a:stretch>
            <a:fillRect/>
          </a:stretch>
        </p:blipFill>
        <p:spPr>
          <a:xfrm>
            <a:off x="4498848" y="2743200"/>
            <a:ext cx="146304" cy="146304"/>
          </a:xfrm>
          <a:prstGeom prst="rect">
            <a:avLst/>
          </a:prstGeom>
        </p:spPr>
      </p:pic>
      <p:sp>
        <p:nvSpPr>
          <p:cNvPr id="17" name="Shape 10"/>
          <p:cNvSpPr/>
          <p:nvPr/>
        </p:nvSpPr>
        <p:spPr>
          <a:xfrm>
            <a:off x="4663440" y="1371600"/>
            <a:ext cx="1920240" cy="3017520"/>
          </a:xfrm>
          <a:prstGeom prst="roundRect">
            <a:avLst>
              <a:gd name="adj" fmla="val 714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8" name="Shape 11"/>
          <p:cNvSpPr/>
          <p:nvPr/>
        </p:nvSpPr>
        <p:spPr>
          <a:xfrm>
            <a:off x="4892040" y="1600200"/>
            <a:ext cx="640080" cy="640080"/>
          </a:xfrm>
          <a:prstGeom prst="ellipse">
            <a:avLst/>
          </a:prstGeom>
          <a:solidFill>
            <a:srgbClr val="2E1437"/>
          </a:solidFill>
          <a:ln w="12700">
            <a:solidFill>
              <a:srgbClr val="2E1437"/>
            </a:solidFill>
            <a:prstDash val="solid"/>
          </a:ln>
        </p:spPr>
      </p:sp>
      <p:pic>
        <p:nvPicPr>
          <p:cNvPr id="19" name="Image 4" descr="preencoded.png">    </p:cNvPr>
          <p:cNvPicPr>
            <a:picLocks noChangeAspect="1"/>
          </p:cNvPicPr>
          <p:nvPr/>
        </p:nvPicPr>
        <p:blipFill>
          <a:blip r:embed="rId5"/>
          <a:stretch>
            <a:fillRect/>
          </a:stretch>
        </p:blipFill>
        <p:spPr>
          <a:xfrm>
            <a:off x="5052060" y="1760220"/>
            <a:ext cx="320040" cy="320040"/>
          </a:xfrm>
          <a:prstGeom prst="rect">
            <a:avLst/>
          </a:prstGeom>
        </p:spPr>
      </p:pic>
      <p:sp>
        <p:nvSpPr>
          <p:cNvPr id="20" name="Text 12"/>
          <p:cNvSpPr txBox="1"/>
          <p:nvPr/>
        </p:nvSpPr>
        <p:spPr>
          <a:xfrm>
            <a:off x="4892040" y="2423160"/>
            <a:ext cx="1554480" cy="365760"/>
          </a:xfrm>
          <a:prstGeom prst="rect">
            <a:avLst/>
          </a:prstGeom>
          <a:noFill/>
          <a:ln/>
        </p:spPr>
        <p:txBody>
          <a:bodyPr wrap="square" lIns="0" tIns="0" rIns="0" bIns="0" rtlCol="0" anchor="ctr"/>
          <a:lstStyle/>
          <a:p>
            <a:pPr indent="0" marL="0">
              <a:buNone/>
            </a:pPr>
            <a:r>
              <a:rPr lang="en-US" sz="1700" b="1" dirty="0">
                <a:solidFill>
                  <a:srgbClr val="2E1437"/>
                </a:solidFill>
                <a:latin typeface="Cambria" pitchFamily="34" charset="0"/>
                <a:ea typeface="Cambria" pitchFamily="34" charset="-122"/>
                <a:cs typeface="Cambria" pitchFamily="34" charset="-120"/>
              </a:rPr>
              <a:t>3  The match</a:t>
            </a:r>
            <a:endParaRPr lang="en-US" sz="1700" dirty="0"/>
          </a:p>
        </p:txBody>
      </p:sp>
      <p:sp>
        <p:nvSpPr>
          <p:cNvPr id="21" name="Text 13"/>
          <p:cNvSpPr txBox="1"/>
          <p:nvPr/>
        </p:nvSpPr>
        <p:spPr>
          <a:xfrm>
            <a:off x="4892040" y="2834640"/>
            <a:ext cx="1554480" cy="146304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Compares real measurements with the buyer's size profile.</a:t>
            </a:r>
            <a:endParaRPr lang="en-US" sz="1300" dirty="0"/>
          </a:p>
        </p:txBody>
      </p:sp>
      <p:pic>
        <p:nvPicPr>
          <p:cNvPr id="22" name="Image 5" descr="preencoded.png">    </p:cNvPr>
          <p:cNvPicPr>
            <a:picLocks noChangeAspect="1"/>
          </p:cNvPicPr>
          <p:nvPr/>
        </p:nvPicPr>
        <p:blipFill>
          <a:blip r:embed="rId6"/>
          <a:stretch>
            <a:fillRect/>
          </a:stretch>
        </p:blipFill>
        <p:spPr>
          <a:xfrm>
            <a:off x="6601968" y="2743200"/>
            <a:ext cx="146304" cy="146304"/>
          </a:xfrm>
          <a:prstGeom prst="rect">
            <a:avLst/>
          </a:prstGeom>
        </p:spPr>
      </p:pic>
      <p:sp>
        <p:nvSpPr>
          <p:cNvPr id="23" name="Shape 14"/>
          <p:cNvSpPr/>
          <p:nvPr/>
        </p:nvSpPr>
        <p:spPr>
          <a:xfrm>
            <a:off x="6766560" y="1371600"/>
            <a:ext cx="1920240" cy="3017520"/>
          </a:xfrm>
          <a:prstGeom prst="roundRect">
            <a:avLst>
              <a:gd name="adj" fmla="val 7143"/>
            </a:avLst>
          </a:prstGeom>
          <a:solidFill>
            <a:srgbClr val="2E1437"/>
          </a:solidFill>
          <a:ln w="12700">
            <a:solidFill>
              <a:srgbClr val="2E1437"/>
            </a:solidFill>
            <a:prstDash val="solid"/>
          </a:ln>
          <a:effectLst>
            <a:outerShdw sx="100000" sy="100000" kx="0" ky="0" algn="bl" rotWithShape="0" blurRad="101600" dist="25400" dir="5400000">
              <a:srgbClr val="000000">
                <a:alpha val="12000"/>
              </a:srgbClr>
            </a:outerShdw>
          </a:effectLst>
        </p:spPr>
      </p:sp>
      <p:sp>
        <p:nvSpPr>
          <p:cNvPr id="24" name="Shape 15"/>
          <p:cNvSpPr/>
          <p:nvPr/>
        </p:nvSpPr>
        <p:spPr>
          <a:xfrm>
            <a:off x="6995160" y="1600200"/>
            <a:ext cx="640080" cy="640080"/>
          </a:xfrm>
          <a:prstGeom prst="ellipse">
            <a:avLst/>
          </a:prstGeom>
          <a:solidFill>
            <a:srgbClr val="E23E7A"/>
          </a:solidFill>
          <a:ln w="12700">
            <a:solidFill>
              <a:srgbClr val="E23E7A"/>
            </a:solidFill>
            <a:prstDash val="solid"/>
          </a:ln>
        </p:spPr>
      </p:sp>
      <p:pic>
        <p:nvPicPr>
          <p:cNvPr id="25" name="Image 6" descr="preencoded.png">    </p:cNvPr>
          <p:cNvPicPr>
            <a:picLocks noChangeAspect="1"/>
          </p:cNvPicPr>
          <p:nvPr/>
        </p:nvPicPr>
        <p:blipFill>
          <a:blip r:embed="rId7"/>
          <a:stretch>
            <a:fillRect/>
          </a:stretch>
        </p:blipFill>
        <p:spPr>
          <a:xfrm>
            <a:off x="7155180" y="1760220"/>
            <a:ext cx="320040" cy="320040"/>
          </a:xfrm>
          <a:prstGeom prst="rect">
            <a:avLst/>
          </a:prstGeom>
        </p:spPr>
      </p:pic>
      <p:sp>
        <p:nvSpPr>
          <p:cNvPr id="26" name="Text 16"/>
          <p:cNvSpPr txBox="1"/>
          <p:nvPr/>
        </p:nvSpPr>
        <p:spPr>
          <a:xfrm>
            <a:off x="6995160" y="2423160"/>
            <a:ext cx="1554480" cy="365760"/>
          </a:xfrm>
          <a:prstGeom prst="rect">
            <a:avLst/>
          </a:prstGeom>
          <a:noFill/>
          <a:ln/>
        </p:spPr>
        <p:txBody>
          <a:bodyPr wrap="square" lIns="0" tIns="0" rIns="0" bIns="0" rtlCol="0" anchor="ctr"/>
          <a:lstStyle/>
          <a:p>
            <a:pPr indent="0" marL="0">
              <a:buNone/>
            </a:pPr>
            <a:r>
              <a:rPr lang="en-US" sz="1700" b="1" dirty="0">
                <a:solidFill>
                  <a:srgbClr val="F5B942"/>
                </a:solidFill>
                <a:latin typeface="Cambria" pitchFamily="34" charset="0"/>
                <a:ea typeface="Cambria" pitchFamily="34" charset="-122"/>
                <a:cs typeface="Cambria" pitchFamily="34" charset="-120"/>
              </a:rPr>
              <a:t>4  The score</a:t>
            </a:r>
            <a:endParaRPr lang="en-US" sz="1700" dirty="0"/>
          </a:p>
        </p:txBody>
      </p:sp>
      <p:sp>
        <p:nvSpPr>
          <p:cNvPr id="27" name="Text 17"/>
          <p:cNvSpPr txBox="1"/>
          <p:nvPr/>
        </p:nvSpPr>
        <p:spPr>
          <a:xfrm>
            <a:off x="6995160" y="2834640"/>
            <a:ext cx="1554480" cy="1463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item gets a fit score, like "92% match for you".</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1437"/>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4  ·  THE HERO FEATURE</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Hope becomes information</a:t>
            </a:r>
            <a:endParaRPr lang="en-US" sz="3400" dirty="0"/>
          </a:p>
        </p:txBody>
      </p:sp>
      <p:sp>
        <p:nvSpPr>
          <p:cNvPr id="5" name="Shape 2"/>
          <p:cNvSpPr/>
          <p:nvPr/>
        </p:nvSpPr>
        <p:spPr>
          <a:xfrm>
            <a:off x="548640" y="1371600"/>
            <a:ext cx="4023360" cy="3017520"/>
          </a:xfrm>
          <a:prstGeom prst="roundRect">
            <a:avLst>
              <a:gd name="adj" fmla="val 606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777240" y="1600200"/>
            <a:ext cx="1463040" cy="1463040"/>
          </a:xfrm>
          <a:prstGeom prst="roundRect">
            <a:avLst>
              <a:gd name="adj" fmla="val 7500"/>
            </a:avLst>
          </a:prstGeom>
          <a:solidFill>
            <a:srgbClr val="FBE4EE"/>
          </a:solidFill>
          <a:ln w="12700">
            <a:solidFill>
              <a:srgbClr val="FBE4EE"/>
            </a:solidFill>
            <a:prstDash val="solid"/>
          </a:ln>
        </p:spPr>
      </p:sp>
      <p:pic>
        <p:nvPicPr>
          <p:cNvPr id="7" name="Image 0" descr="preencoded.png">    </p:cNvPr>
          <p:cNvPicPr>
            <a:picLocks noChangeAspect="1"/>
          </p:cNvPicPr>
          <p:nvPr/>
        </p:nvPicPr>
        <p:blipFill>
          <a:blip r:embed="rId1"/>
          <a:stretch>
            <a:fillRect/>
          </a:stretch>
        </p:blipFill>
        <p:spPr>
          <a:xfrm>
            <a:off x="1188720" y="2011680"/>
            <a:ext cx="640080" cy="640080"/>
          </a:xfrm>
          <a:prstGeom prst="rect">
            <a:avLst/>
          </a:prstGeom>
        </p:spPr>
      </p:pic>
      <p:sp>
        <p:nvSpPr>
          <p:cNvPr id="8" name="Text 4"/>
          <p:cNvSpPr txBox="1"/>
          <p:nvPr/>
        </p:nvSpPr>
        <p:spPr>
          <a:xfrm>
            <a:off x="2423160" y="1645920"/>
            <a:ext cx="2011680" cy="365760"/>
          </a:xfrm>
          <a:prstGeom prst="rect">
            <a:avLst/>
          </a:prstGeom>
          <a:noFill/>
          <a:ln/>
        </p:spPr>
        <p:txBody>
          <a:bodyPr wrap="square" lIns="0" tIns="0" rIns="0" bIns="0" rtlCol="0" anchor="ctr"/>
          <a:lstStyle/>
          <a:p>
            <a:pPr indent="0" marL="0">
              <a:buNone/>
            </a:pPr>
            <a:r>
              <a:rPr lang="en-US" sz="1700" b="1" dirty="0">
                <a:solidFill>
                  <a:srgbClr val="2E1437"/>
                </a:solidFill>
                <a:latin typeface="Cambria" pitchFamily="34" charset="0"/>
                <a:ea typeface="Cambria" pitchFamily="34" charset="-122"/>
                <a:cs typeface="Cambria" pitchFamily="34" charset="-120"/>
              </a:rPr>
              <a:t>Vintage jacket</a:t>
            </a:r>
            <a:endParaRPr lang="en-US" sz="1700" dirty="0"/>
          </a:p>
        </p:txBody>
      </p:sp>
      <p:sp>
        <p:nvSpPr>
          <p:cNvPr id="9" name="Text 5"/>
          <p:cNvSpPr txBox="1"/>
          <p:nvPr/>
        </p:nvSpPr>
        <p:spPr>
          <a:xfrm>
            <a:off x="2423160" y="2057400"/>
            <a:ext cx="2011680" cy="640080"/>
          </a:xfrm>
          <a:prstGeom prst="rect">
            <a:avLst/>
          </a:prstGeom>
          <a:noFill/>
          <a:ln/>
        </p:spPr>
        <p:txBody>
          <a:bodyPr wrap="square" lIns="0" tIns="0" rIns="0" bIns="0" rtlCol="0" anchor="t"/>
          <a:lstStyle/>
          <a:p>
            <a:pPr indent="0" marL="0">
              <a:buNone/>
            </a:pPr>
            <a:r>
              <a:rPr lang="en-US" sz="1200" dirty="0">
                <a:solidFill>
                  <a:srgbClr val="6B5F73"/>
                </a:solidFill>
                <a:latin typeface="Calibri" pitchFamily="34" charset="0"/>
                <a:ea typeface="Calibri" pitchFamily="34" charset="-122"/>
                <a:cs typeface="Calibri" pitchFamily="34" charset="-120"/>
              </a:rPr>
              <a:t>Tag read: AU size 12</a:t>
            </a:r>
            <a:endParaRPr lang="en-US" sz="1200" dirty="0"/>
          </a:p>
          <a:p>
            <a:pPr indent="0" marL="0">
              <a:buNone/>
            </a:pPr>
            <a:r>
              <a:rPr lang="en-US" sz="1200" dirty="0">
                <a:solidFill>
                  <a:srgbClr val="6B5F73"/>
                </a:solidFill>
                <a:latin typeface="Calibri" pitchFamily="34" charset="0"/>
                <a:ea typeface="Calibri" pitchFamily="34" charset="-122"/>
                <a:cs typeface="Calibri" pitchFamily="34" charset="-120"/>
              </a:rPr>
              <a:t>Brand chart found</a:t>
            </a:r>
            <a:endParaRPr lang="en-US" sz="1200" dirty="0"/>
          </a:p>
        </p:txBody>
      </p:sp>
      <p:sp>
        <p:nvSpPr>
          <p:cNvPr id="10" name="Shape 6"/>
          <p:cNvSpPr/>
          <p:nvPr/>
        </p:nvSpPr>
        <p:spPr>
          <a:xfrm>
            <a:off x="777240" y="3291840"/>
            <a:ext cx="3566160" cy="822960"/>
          </a:xfrm>
          <a:prstGeom prst="roundRect">
            <a:avLst>
              <a:gd name="adj" fmla="val 13333"/>
            </a:avLst>
          </a:prstGeom>
          <a:solidFill>
            <a:srgbClr val="E23E7A"/>
          </a:solidFill>
          <a:ln w="12700">
            <a:solidFill>
              <a:srgbClr val="E23E7A"/>
            </a:solidFill>
            <a:prstDash val="solid"/>
          </a:ln>
        </p:spPr>
      </p:sp>
      <p:sp>
        <p:nvSpPr>
          <p:cNvPr id="11" name="Text 7"/>
          <p:cNvSpPr txBox="1"/>
          <p:nvPr/>
        </p:nvSpPr>
        <p:spPr>
          <a:xfrm>
            <a:off x="777240" y="3291840"/>
            <a:ext cx="35661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92% match for you</a:t>
            </a:r>
            <a:endParaRPr lang="en-US" sz="2400" dirty="0"/>
          </a:p>
        </p:txBody>
      </p:sp>
      <p:sp>
        <p:nvSpPr>
          <p:cNvPr id="12" name="Text 8"/>
          <p:cNvSpPr txBox="1"/>
          <p:nvPr/>
        </p:nvSpPr>
        <p:spPr>
          <a:xfrm>
            <a:off x="5029200" y="1463040"/>
            <a:ext cx="3657600" cy="365760"/>
          </a:xfrm>
          <a:prstGeom prst="rect">
            <a:avLst/>
          </a:prstGeom>
          <a:noFill/>
          <a:ln/>
        </p:spPr>
        <p:txBody>
          <a:bodyPr wrap="square" lIns="0" tIns="0" rIns="0" bIns="0" rtlCol="0" anchor="ctr"/>
          <a:lstStyle/>
          <a:p>
            <a:pPr indent="0" marL="0">
              <a:buNone/>
            </a:pPr>
            <a:r>
              <a:rPr lang="en-US" sz="2000" b="1" dirty="0">
                <a:solidFill>
                  <a:srgbClr val="F5B942"/>
                </a:solidFill>
                <a:latin typeface="Cambria" pitchFamily="34" charset="0"/>
                <a:ea typeface="Cambria" pitchFamily="34" charset="-122"/>
                <a:cs typeface="Cambria" pitchFamily="34" charset="-120"/>
              </a:rPr>
              <a:t>No guessing</a:t>
            </a:r>
            <a:endParaRPr lang="en-US" sz="2000" dirty="0"/>
          </a:p>
        </p:txBody>
      </p:sp>
      <p:sp>
        <p:nvSpPr>
          <p:cNvPr id="13" name="Text 9"/>
          <p:cNvSpPr txBox="1"/>
          <p:nvPr/>
        </p:nvSpPr>
        <p:spPr>
          <a:xfrm>
            <a:off x="5029200" y="1847088"/>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clear number beside every item</a:t>
            </a:r>
            <a:endParaRPr lang="en-US" sz="1400" dirty="0"/>
          </a:p>
        </p:txBody>
      </p:sp>
      <p:sp>
        <p:nvSpPr>
          <p:cNvPr id="14" name="Text 10"/>
          <p:cNvSpPr txBox="1"/>
          <p:nvPr/>
        </p:nvSpPr>
        <p:spPr>
          <a:xfrm>
            <a:off x="5029200" y="2468880"/>
            <a:ext cx="3657600" cy="365760"/>
          </a:xfrm>
          <a:prstGeom prst="rect">
            <a:avLst/>
          </a:prstGeom>
          <a:noFill/>
          <a:ln/>
        </p:spPr>
        <p:txBody>
          <a:bodyPr wrap="square" lIns="0" tIns="0" rIns="0" bIns="0" rtlCol="0" anchor="ctr"/>
          <a:lstStyle/>
          <a:p>
            <a:pPr indent="0" marL="0">
              <a:buNone/>
            </a:pPr>
            <a:r>
              <a:rPr lang="en-US" sz="2000" b="1" dirty="0">
                <a:solidFill>
                  <a:srgbClr val="F5B942"/>
                </a:solidFill>
                <a:latin typeface="Cambria" pitchFamily="34" charset="0"/>
                <a:ea typeface="Cambria" pitchFamily="34" charset="-122"/>
                <a:cs typeface="Cambria" pitchFamily="34" charset="-120"/>
              </a:rPr>
              <a:t>No disappointment</a:t>
            </a:r>
            <a:endParaRPr lang="en-US" sz="2000" dirty="0"/>
          </a:p>
        </p:txBody>
      </p:sp>
      <p:sp>
        <p:nvSpPr>
          <p:cNvPr id="15" name="Text 11"/>
          <p:cNvSpPr txBox="1"/>
          <p:nvPr/>
        </p:nvSpPr>
        <p:spPr>
          <a:xfrm>
            <a:off x="5029200" y="2852928"/>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Decide with information, not hope</a:t>
            </a:r>
            <a:endParaRPr lang="en-US" sz="1400" dirty="0"/>
          </a:p>
        </p:txBody>
      </p:sp>
      <p:sp>
        <p:nvSpPr>
          <p:cNvPr id="16" name="Text 12"/>
          <p:cNvSpPr txBox="1"/>
          <p:nvPr/>
        </p:nvSpPr>
        <p:spPr>
          <a:xfrm>
            <a:off x="5029200" y="3474720"/>
            <a:ext cx="3657600" cy="365760"/>
          </a:xfrm>
          <a:prstGeom prst="rect">
            <a:avLst/>
          </a:prstGeom>
          <a:noFill/>
          <a:ln/>
        </p:spPr>
        <p:txBody>
          <a:bodyPr wrap="square" lIns="0" tIns="0" rIns="0" bIns="0" rtlCol="0" anchor="ctr"/>
          <a:lstStyle/>
          <a:p>
            <a:pPr indent="0" marL="0">
              <a:buNone/>
            </a:pPr>
            <a:r>
              <a:rPr lang="en-US" sz="2000" b="1" dirty="0">
                <a:solidFill>
                  <a:srgbClr val="F5B942"/>
                </a:solidFill>
                <a:latin typeface="Cambria" pitchFamily="34" charset="0"/>
                <a:ea typeface="Cambria" pitchFamily="34" charset="-122"/>
                <a:cs typeface="Cambria" pitchFamily="34" charset="-120"/>
              </a:rPr>
              <a:t>No wardrobe graveyard</a:t>
            </a:r>
            <a:endParaRPr lang="en-US" sz="2000" dirty="0"/>
          </a:p>
        </p:txBody>
      </p:sp>
      <p:sp>
        <p:nvSpPr>
          <p:cNvPr id="17" name="Text 13"/>
          <p:cNvSpPr txBox="1"/>
          <p:nvPr/>
        </p:nvSpPr>
        <p:spPr>
          <a:xfrm>
            <a:off x="5029200" y="3858768"/>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More clothes get worn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5  ·  RESPONSIBLE AI</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Four principles we build on</a:t>
            </a:r>
            <a:endParaRPr lang="en-US" sz="3400" dirty="0"/>
          </a:p>
        </p:txBody>
      </p:sp>
      <p:sp>
        <p:nvSpPr>
          <p:cNvPr id="5" name="Shape 2"/>
          <p:cNvSpPr/>
          <p:nvPr/>
        </p:nvSpPr>
        <p:spPr>
          <a:xfrm>
            <a:off x="457200" y="1280160"/>
            <a:ext cx="3931920" cy="1600200"/>
          </a:xfrm>
          <a:prstGeom prst="roundRect">
            <a:avLst>
              <a:gd name="adj" fmla="val 8571"/>
            </a:avLst>
          </a:prstGeom>
          <a:solidFill>
            <a:srgbClr val="F7F2F9"/>
          </a:solidFill>
          <a:ln w="12700">
            <a:solidFill>
              <a:srgbClr val="F7F2F9"/>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731520" y="1554480"/>
            <a:ext cx="685800" cy="685800"/>
          </a:xfrm>
          <a:prstGeom prst="ellipse">
            <a:avLst/>
          </a:prstGeom>
          <a:solidFill>
            <a:srgbClr val="2E1437"/>
          </a:solidFill>
          <a:ln w="12700">
            <a:solidFill>
              <a:srgbClr val="2E1437"/>
            </a:solidFill>
            <a:prstDash val="solid"/>
          </a:ln>
        </p:spPr>
      </p:sp>
      <p:pic>
        <p:nvPicPr>
          <p:cNvPr id="7" name="Image 0" descr="preencoded.png">    </p:cNvPr>
          <p:cNvPicPr>
            <a:picLocks noChangeAspect="1"/>
          </p:cNvPicPr>
          <p:nvPr/>
        </p:nvPicPr>
        <p:blipFill>
          <a:blip r:embed="rId1"/>
          <a:stretch>
            <a:fillRect/>
          </a:stretch>
        </p:blipFill>
        <p:spPr>
          <a:xfrm>
            <a:off x="902970" y="1725930"/>
            <a:ext cx="342900" cy="342900"/>
          </a:xfrm>
          <a:prstGeom prst="rect">
            <a:avLst/>
          </a:prstGeom>
        </p:spPr>
      </p:pic>
      <p:sp>
        <p:nvSpPr>
          <p:cNvPr id="8" name="Text 4"/>
          <p:cNvSpPr txBox="1"/>
          <p:nvPr/>
        </p:nvSpPr>
        <p:spPr>
          <a:xfrm>
            <a:off x="1645920" y="1508760"/>
            <a:ext cx="256032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Privacy</a:t>
            </a:r>
            <a:endParaRPr lang="en-US" sz="1800" dirty="0"/>
          </a:p>
        </p:txBody>
      </p:sp>
      <p:sp>
        <p:nvSpPr>
          <p:cNvPr id="9" name="Text 5"/>
          <p:cNvSpPr txBox="1"/>
          <p:nvPr/>
        </p:nvSpPr>
        <p:spPr>
          <a:xfrm>
            <a:off x="1645920" y="1920240"/>
            <a:ext cx="2560320" cy="82296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Tag photos only. No body photos or scans.</a:t>
            </a:r>
            <a:endParaRPr lang="en-US" sz="1300" dirty="0"/>
          </a:p>
        </p:txBody>
      </p:sp>
      <p:sp>
        <p:nvSpPr>
          <p:cNvPr id="10" name="Shape 6"/>
          <p:cNvSpPr/>
          <p:nvPr/>
        </p:nvSpPr>
        <p:spPr>
          <a:xfrm>
            <a:off x="4663440" y="1280160"/>
            <a:ext cx="3931920" cy="1600200"/>
          </a:xfrm>
          <a:prstGeom prst="roundRect">
            <a:avLst>
              <a:gd name="adj" fmla="val 8571"/>
            </a:avLst>
          </a:prstGeom>
          <a:solidFill>
            <a:srgbClr val="F7F2F9"/>
          </a:solidFill>
          <a:ln w="12700">
            <a:solidFill>
              <a:srgbClr val="F7F2F9"/>
            </a:solidFill>
            <a:prstDash val="solid"/>
          </a:ln>
          <a:effectLst>
            <a:outerShdw sx="100000" sy="100000" kx="0" ky="0" algn="bl" rotWithShape="0" blurRad="101600" dist="25400" dir="5400000">
              <a:srgbClr val="000000">
                <a:alpha val="12000"/>
              </a:srgbClr>
            </a:outerShdw>
          </a:effectLst>
        </p:spPr>
      </p:sp>
      <p:sp>
        <p:nvSpPr>
          <p:cNvPr id="11" name="Shape 7"/>
          <p:cNvSpPr/>
          <p:nvPr/>
        </p:nvSpPr>
        <p:spPr>
          <a:xfrm>
            <a:off x="4937760" y="1554480"/>
            <a:ext cx="685800" cy="685800"/>
          </a:xfrm>
          <a:prstGeom prst="ellipse">
            <a:avLst/>
          </a:prstGeom>
          <a:solidFill>
            <a:srgbClr val="2E1437"/>
          </a:solidFill>
          <a:ln w="12700">
            <a:solidFill>
              <a:srgbClr val="2E1437"/>
            </a:solidFill>
            <a:prstDash val="solid"/>
          </a:ln>
        </p:spPr>
      </p:sp>
      <p:pic>
        <p:nvPicPr>
          <p:cNvPr id="12" name="Image 1" descr="preencoded.png">    </p:cNvPr>
          <p:cNvPicPr>
            <a:picLocks noChangeAspect="1"/>
          </p:cNvPicPr>
          <p:nvPr/>
        </p:nvPicPr>
        <p:blipFill>
          <a:blip r:embed="rId2"/>
          <a:stretch>
            <a:fillRect/>
          </a:stretch>
        </p:blipFill>
        <p:spPr>
          <a:xfrm>
            <a:off x="5109210" y="1725930"/>
            <a:ext cx="342900" cy="342900"/>
          </a:xfrm>
          <a:prstGeom prst="rect">
            <a:avLst/>
          </a:prstGeom>
        </p:spPr>
      </p:pic>
      <p:sp>
        <p:nvSpPr>
          <p:cNvPr id="13" name="Text 8"/>
          <p:cNvSpPr txBox="1"/>
          <p:nvPr/>
        </p:nvSpPr>
        <p:spPr>
          <a:xfrm>
            <a:off x="5852160" y="1508760"/>
            <a:ext cx="256032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Honesty</a:t>
            </a:r>
            <a:endParaRPr lang="en-US" sz="1800" dirty="0"/>
          </a:p>
        </p:txBody>
      </p:sp>
      <p:sp>
        <p:nvSpPr>
          <p:cNvPr id="14" name="Text 9"/>
          <p:cNvSpPr txBox="1"/>
          <p:nvPr/>
        </p:nvSpPr>
        <p:spPr>
          <a:xfrm>
            <a:off x="5852160" y="1920240"/>
            <a:ext cx="2560320" cy="82296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Unreadable tag? Lower the score and say so.</a:t>
            </a:r>
            <a:endParaRPr lang="en-US" sz="1300" dirty="0"/>
          </a:p>
        </p:txBody>
      </p:sp>
      <p:sp>
        <p:nvSpPr>
          <p:cNvPr id="15" name="Shape 10"/>
          <p:cNvSpPr/>
          <p:nvPr/>
        </p:nvSpPr>
        <p:spPr>
          <a:xfrm>
            <a:off x="457200" y="3063240"/>
            <a:ext cx="3931920" cy="1600200"/>
          </a:xfrm>
          <a:prstGeom prst="roundRect">
            <a:avLst>
              <a:gd name="adj" fmla="val 8571"/>
            </a:avLst>
          </a:prstGeom>
          <a:solidFill>
            <a:srgbClr val="F7F2F9"/>
          </a:solidFill>
          <a:ln w="12700">
            <a:solidFill>
              <a:srgbClr val="F7F2F9"/>
            </a:solidFill>
            <a:prstDash val="solid"/>
          </a:ln>
          <a:effectLst>
            <a:outerShdw sx="100000" sy="100000" kx="0" ky="0" algn="bl" rotWithShape="0" blurRad="101600" dist="25400" dir="5400000">
              <a:srgbClr val="000000">
                <a:alpha val="12000"/>
              </a:srgbClr>
            </a:outerShdw>
          </a:effectLst>
        </p:spPr>
      </p:sp>
      <p:sp>
        <p:nvSpPr>
          <p:cNvPr id="16" name="Shape 11"/>
          <p:cNvSpPr/>
          <p:nvPr/>
        </p:nvSpPr>
        <p:spPr>
          <a:xfrm>
            <a:off x="731520" y="3337560"/>
            <a:ext cx="685800" cy="685800"/>
          </a:xfrm>
          <a:prstGeom prst="ellipse">
            <a:avLst/>
          </a:prstGeom>
          <a:solidFill>
            <a:srgbClr val="2E1437"/>
          </a:solidFill>
          <a:ln w="12700">
            <a:solidFill>
              <a:srgbClr val="2E1437"/>
            </a:solidFill>
            <a:prstDash val="solid"/>
          </a:ln>
        </p:spPr>
      </p:sp>
      <p:pic>
        <p:nvPicPr>
          <p:cNvPr id="17" name="Image 2" descr="preencoded.png">    </p:cNvPr>
          <p:cNvPicPr>
            <a:picLocks noChangeAspect="1"/>
          </p:cNvPicPr>
          <p:nvPr/>
        </p:nvPicPr>
        <p:blipFill>
          <a:blip r:embed="rId3"/>
          <a:stretch>
            <a:fillRect/>
          </a:stretch>
        </p:blipFill>
        <p:spPr>
          <a:xfrm>
            <a:off x="902970" y="3509010"/>
            <a:ext cx="342900" cy="342900"/>
          </a:xfrm>
          <a:prstGeom prst="rect">
            <a:avLst/>
          </a:prstGeom>
        </p:spPr>
      </p:pic>
      <p:sp>
        <p:nvSpPr>
          <p:cNvPr id="18" name="Text 12"/>
          <p:cNvSpPr txBox="1"/>
          <p:nvPr/>
        </p:nvSpPr>
        <p:spPr>
          <a:xfrm>
            <a:off x="1645920" y="3291840"/>
            <a:ext cx="256032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Respect</a:t>
            </a:r>
            <a:endParaRPr lang="en-US" sz="1800" dirty="0"/>
          </a:p>
        </p:txBody>
      </p:sp>
      <p:sp>
        <p:nvSpPr>
          <p:cNvPr id="19" name="Text 13"/>
          <p:cNvSpPr txBox="1"/>
          <p:nvPr/>
        </p:nvSpPr>
        <p:spPr>
          <a:xfrm>
            <a:off x="1645920" y="3703320"/>
            <a:ext cx="2560320" cy="82296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"This jacket runs narrow", never "you are too big".</a:t>
            </a:r>
            <a:endParaRPr lang="en-US" sz="1300" dirty="0"/>
          </a:p>
        </p:txBody>
      </p:sp>
      <p:sp>
        <p:nvSpPr>
          <p:cNvPr id="20" name="Shape 14"/>
          <p:cNvSpPr/>
          <p:nvPr/>
        </p:nvSpPr>
        <p:spPr>
          <a:xfrm>
            <a:off x="4663440" y="3063240"/>
            <a:ext cx="3931920" cy="1600200"/>
          </a:xfrm>
          <a:prstGeom prst="roundRect">
            <a:avLst>
              <a:gd name="adj" fmla="val 8571"/>
            </a:avLst>
          </a:prstGeom>
          <a:solidFill>
            <a:srgbClr val="F7F2F9"/>
          </a:solidFill>
          <a:ln w="12700">
            <a:solidFill>
              <a:srgbClr val="F7F2F9"/>
            </a:solidFill>
            <a:prstDash val="solid"/>
          </a:ln>
          <a:effectLst>
            <a:outerShdw sx="100000" sy="100000" kx="0" ky="0" algn="bl" rotWithShape="0" blurRad="101600" dist="25400" dir="5400000">
              <a:srgbClr val="000000">
                <a:alpha val="12000"/>
              </a:srgbClr>
            </a:outerShdw>
          </a:effectLst>
        </p:spPr>
      </p:sp>
      <p:sp>
        <p:nvSpPr>
          <p:cNvPr id="21" name="Shape 15"/>
          <p:cNvSpPr/>
          <p:nvPr/>
        </p:nvSpPr>
        <p:spPr>
          <a:xfrm>
            <a:off x="4937760" y="3337560"/>
            <a:ext cx="685800" cy="685800"/>
          </a:xfrm>
          <a:prstGeom prst="ellipse">
            <a:avLst/>
          </a:prstGeom>
          <a:solidFill>
            <a:srgbClr val="2E1437"/>
          </a:solidFill>
          <a:ln w="12700">
            <a:solidFill>
              <a:srgbClr val="2E1437"/>
            </a:solidFill>
            <a:prstDash val="solid"/>
          </a:ln>
        </p:spPr>
      </p:sp>
      <p:pic>
        <p:nvPicPr>
          <p:cNvPr id="22" name="Image 3" descr="preencoded.png">    </p:cNvPr>
          <p:cNvPicPr>
            <a:picLocks noChangeAspect="1"/>
          </p:cNvPicPr>
          <p:nvPr/>
        </p:nvPicPr>
        <p:blipFill>
          <a:blip r:embed="rId4"/>
          <a:stretch>
            <a:fillRect/>
          </a:stretch>
        </p:blipFill>
        <p:spPr>
          <a:xfrm>
            <a:off x="5109210" y="3509010"/>
            <a:ext cx="342900" cy="342900"/>
          </a:xfrm>
          <a:prstGeom prst="rect">
            <a:avLst/>
          </a:prstGeom>
        </p:spPr>
      </p:pic>
      <p:sp>
        <p:nvSpPr>
          <p:cNvPr id="23" name="Text 16"/>
          <p:cNvSpPr txBox="1"/>
          <p:nvPr/>
        </p:nvSpPr>
        <p:spPr>
          <a:xfrm>
            <a:off x="5852160" y="3291840"/>
            <a:ext cx="256032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Human oversight</a:t>
            </a:r>
            <a:endParaRPr lang="en-US" sz="1800" dirty="0"/>
          </a:p>
        </p:txBody>
      </p:sp>
      <p:sp>
        <p:nvSpPr>
          <p:cNvPr id="24" name="Text 17"/>
          <p:cNvSpPr txBox="1"/>
          <p:nvPr/>
        </p:nvSpPr>
        <p:spPr>
          <a:xfrm>
            <a:off x="5852160" y="3703320"/>
            <a:ext cx="2560320" cy="822960"/>
          </a:xfrm>
          <a:prstGeom prst="rect">
            <a:avLst/>
          </a:prstGeom>
          <a:noFill/>
          <a:ln/>
        </p:spPr>
        <p:txBody>
          <a:bodyPr wrap="square" lIns="0" tIns="0" rIns="0" bIns="0" rtlCol="0" anchor="t"/>
          <a:lstStyle/>
          <a:p>
            <a:pPr indent="0" marL="0">
              <a:buNone/>
            </a:pPr>
            <a:r>
              <a:rPr lang="en-US" sz="1300" dirty="0">
                <a:solidFill>
                  <a:srgbClr val="2A2030"/>
                </a:solidFill>
                <a:latin typeface="Calibri" pitchFamily="34" charset="0"/>
                <a:ea typeface="Calibri" pitchFamily="34" charset="-122"/>
                <a:cs typeface="Calibri" pitchFamily="34" charset="-120"/>
              </a:rPr>
              <a:t>Seller corrections improve the tool for everyone.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F9"/>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5  ·  THE MARKET</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Specialist beats generalist</a:t>
            </a:r>
            <a:endParaRPr lang="en-US" sz="3400" dirty="0"/>
          </a:p>
        </p:txBody>
      </p:sp>
      <p:sp>
        <p:nvSpPr>
          <p:cNvPr id="5" name="Shape 2"/>
          <p:cNvSpPr/>
          <p:nvPr/>
        </p:nvSpPr>
        <p:spPr>
          <a:xfrm>
            <a:off x="457200" y="1280160"/>
            <a:ext cx="3931920" cy="274320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31520" y="1463040"/>
            <a:ext cx="3383280" cy="365760"/>
          </a:xfrm>
          <a:prstGeom prst="rect">
            <a:avLst/>
          </a:prstGeom>
          <a:noFill/>
          <a:ln/>
        </p:spPr>
        <p:txBody>
          <a:bodyPr wrap="square" lIns="0" tIns="0" rIns="0" bIns="0" rtlCol="0" anchor="ctr"/>
          <a:lstStyle/>
          <a:p>
            <a:pPr indent="0" marL="0">
              <a:buNone/>
            </a:pPr>
            <a:r>
              <a:rPr lang="en-US" sz="1800" b="1" dirty="0">
                <a:solidFill>
                  <a:srgbClr val="2E1437"/>
                </a:solidFill>
                <a:latin typeface="Cambria" pitchFamily="34" charset="0"/>
                <a:ea typeface="Cambria" pitchFamily="34" charset="-122"/>
                <a:cs typeface="Cambria" pitchFamily="34" charset="-120"/>
              </a:rPr>
              <a:t>Garment DNA and True Fit</a:t>
            </a:r>
            <a:endParaRPr lang="en-US" sz="1800" dirty="0"/>
          </a:p>
        </p:txBody>
      </p:sp>
      <p:sp>
        <p:nvSpPr>
          <p:cNvPr id="7" name="Text 4"/>
          <p:cNvSpPr txBox="1"/>
          <p:nvPr/>
        </p:nvSpPr>
        <p:spPr>
          <a:xfrm>
            <a:off x="731520" y="1874520"/>
            <a:ext cx="3383280" cy="274320"/>
          </a:xfrm>
          <a:prstGeom prst="rect">
            <a:avLst/>
          </a:prstGeom>
          <a:noFill/>
          <a:ln/>
        </p:spPr>
        <p:txBody>
          <a:bodyPr wrap="square" lIns="0" tIns="0" rIns="0" bIns="0" rtlCol="0" anchor="ctr"/>
          <a:lstStyle/>
          <a:p>
            <a:pPr indent="0" marL="0">
              <a:buNone/>
            </a:pPr>
            <a:r>
              <a:rPr lang="en-US" sz="1300" i="1" dirty="0">
                <a:solidFill>
                  <a:srgbClr val="6B5F73"/>
                </a:solidFill>
                <a:latin typeface="Calibri" pitchFamily="34" charset="0"/>
                <a:ea typeface="Calibri" pitchFamily="34" charset="-122"/>
                <a:cs typeface="Calibri" pitchFamily="34" charset="-120"/>
              </a:rPr>
              <a:t>General tools that serve everyone</a:t>
            </a:r>
            <a:endParaRPr lang="en-US" sz="1300" dirty="0"/>
          </a:p>
        </p:txBody>
      </p:sp>
      <p:sp>
        <p:nvSpPr>
          <p:cNvPr id="8" name="Text 5"/>
          <p:cNvSpPr txBox="1"/>
          <p:nvPr/>
        </p:nvSpPr>
        <p:spPr>
          <a:xfrm>
            <a:off x="731520" y="2377440"/>
            <a:ext cx="338328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A2030"/>
                </a:solidFill>
                <a:latin typeface="Calibri" pitchFamily="34" charset="0"/>
                <a:ea typeface="Calibri" pitchFamily="34" charset="-122"/>
                <a:cs typeface="Calibri" pitchFamily="34" charset="-120"/>
              </a:rPr>
              <a:t>Mainstream retailers and second-hand</a:t>
            </a:r>
            <a:endParaRPr lang="en-US" sz="1400" dirty="0"/>
          </a:p>
          <a:p>
            <a:pPr marL="342900" indent="-342900">
              <a:spcAft>
                <a:spcPts val="600"/>
              </a:spcAft>
              <a:buSzPct val="100000"/>
              <a:buChar char="•"/>
            </a:pPr>
            <a:r>
              <a:rPr lang="en-US" sz="1400" dirty="0">
                <a:solidFill>
                  <a:srgbClr val="2A2030"/>
                </a:solidFill>
                <a:latin typeface="Calibri" pitchFamily="34" charset="0"/>
                <a:ea typeface="Calibri" pitchFamily="34" charset="-122"/>
                <a:cs typeface="Calibri" pitchFamily="34" charset="-120"/>
              </a:rPr>
              <a:t>Adapted to second-hand</a:t>
            </a:r>
            <a:endParaRPr lang="en-US" sz="1400" dirty="0"/>
          </a:p>
          <a:p>
            <a:pPr marL="342900" indent="-342900">
              <a:spcAft>
                <a:spcPts val="600"/>
              </a:spcAft>
              <a:buSzPct val="100000"/>
              <a:buChar char="•"/>
            </a:pPr>
            <a:r>
              <a:rPr lang="en-US" sz="1400" dirty="0">
                <a:solidFill>
                  <a:srgbClr val="2A2030"/>
                </a:solidFill>
                <a:latin typeface="Calibri" pitchFamily="34" charset="0"/>
                <a:ea typeface="Calibri" pitchFamily="34" charset="-122"/>
                <a:cs typeface="Calibri" pitchFamily="34" charset="-120"/>
              </a:rPr>
              <a:t>Broad focus</a:t>
            </a:r>
            <a:endParaRPr lang="en-US" sz="1400" dirty="0"/>
          </a:p>
        </p:txBody>
      </p:sp>
      <p:sp>
        <p:nvSpPr>
          <p:cNvPr id="9" name="Shape 6"/>
          <p:cNvSpPr/>
          <p:nvPr/>
        </p:nvSpPr>
        <p:spPr>
          <a:xfrm>
            <a:off x="4754880" y="1280160"/>
            <a:ext cx="3931920" cy="2743200"/>
          </a:xfrm>
          <a:prstGeom prst="roundRect">
            <a:avLst>
              <a:gd name="adj" fmla="val 5000"/>
            </a:avLst>
          </a:prstGeom>
          <a:solidFill>
            <a:srgbClr val="2E1437"/>
          </a:solidFill>
          <a:ln w="12700">
            <a:solidFill>
              <a:srgbClr val="2E143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5029200" y="1463040"/>
            <a:ext cx="3383280" cy="365760"/>
          </a:xfrm>
          <a:prstGeom prst="rect">
            <a:avLst/>
          </a:prstGeom>
          <a:noFill/>
          <a:ln/>
        </p:spPr>
        <p:txBody>
          <a:bodyPr wrap="square" lIns="0" tIns="0" rIns="0" bIns="0" rtlCol="0" anchor="ctr"/>
          <a:lstStyle/>
          <a:p>
            <a:pPr indent="0" marL="0">
              <a:buNone/>
            </a:pPr>
            <a:r>
              <a:rPr lang="en-US" sz="1800" b="1" dirty="0">
                <a:solidFill>
                  <a:srgbClr val="F5B942"/>
                </a:solidFill>
                <a:latin typeface="Cambria" pitchFamily="34" charset="0"/>
                <a:ea typeface="Cambria" pitchFamily="34" charset="-122"/>
                <a:cs typeface="Cambria" pitchFamily="34" charset="-120"/>
              </a:rPr>
              <a:t>Fashion Fits</a:t>
            </a:r>
            <a:endParaRPr lang="en-US" sz="1800" dirty="0"/>
          </a:p>
        </p:txBody>
      </p:sp>
      <p:sp>
        <p:nvSpPr>
          <p:cNvPr id="11" name="Text 8"/>
          <p:cNvSpPr txBox="1"/>
          <p:nvPr/>
        </p:nvSpPr>
        <p:spPr>
          <a:xfrm>
            <a:off x="5029200" y="1874520"/>
            <a:ext cx="3383280" cy="274320"/>
          </a:xfrm>
          <a:prstGeom prst="rect">
            <a:avLst/>
          </a:prstGeom>
          <a:noFill/>
          <a:ln/>
        </p:spPr>
        <p:txBody>
          <a:bodyPr wrap="square" lIns="0" tIns="0" rIns="0" bIns="0" rtlCol="0" anchor="ctr"/>
          <a:lstStyle/>
          <a:p>
            <a:pPr indent="0" marL="0">
              <a:buNone/>
            </a:pPr>
            <a:r>
              <a:rPr lang="en-US" sz="1300" i="1" dirty="0">
                <a:solidFill>
                  <a:srgbClr val="E9D8F0"/>
                </a:solidFill>
                <a:latin typeface="Calibri" pitchFamily="34" charset="0"/>
                <a:ea typeface="Calibri" pitchFamily="34" charset="-122"/>
                <a:cs typeface="Calibri" pitchFamily="34" charset="-120"/>
              </a:rPr>
              <a:t>Built only for second-hand</a:t>
            </a:r>
            <a:endParaRPr lang="en-US" sz="1300" dirty="0"/>
          </a:p>
        </p:txBody>
      </p:sp>
      <p:sp>
        <p:nvSpPr>
          <p:cNvPr id="12" name="Text 9"/>
          <p:cNvSpPr txBox="1"/>
          <p:nvPr/>
        </p:nvSpPr>
        <p:spPr>
          <a:xfrm>
            <a:off x="5029200" y="2377440"/>
            <a:ext cx="338328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item is unique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Reduces landfill, builds sustainable habits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Designed for this market from day one</a:t>
            </a:r>
            <a:endParaRPr lang="en-US" sz="1400" dirty="0"/>
          </a:p>
        </p:txBody>
      </p:sp>
      <p:sp>
        <p:nvSpPr>
          <p:cNvPr id="13" name="Text 10"/>
          <p:cNvSpPr txBox="1"/>
          <p:nvPr/>
        </p:nvSpPr>
        <p:spPr>
          <a:xfrm>
            <a:off x="457200" y="4206240"/>
            <a:ext cx="8229600" cy="365760"/>
          </a:xfrm>
          <a:prstGeom prst="rect">
            <a:avLst/>
          </a:prstGeom>
          <a:noFill/>
          <a:ln/>
        </p:spPr>
        <p:txBody>
          <a:bodyPr wrap="square" lIns="0" tIns="0" rIns="0" bIns="0" rtlCol="0" anchor="ctr"/>
          <a:lstStyle/>
          <a:p>
            <a:pPr algn="ctr" indent="0" marL="0">
              <a:buNone/>
            </a:pPr>
            <a:r>
              <a:rPr lang="en-US" sz="1500" i="1" dirty="0">
                <a:solidFill>
                  <a:srgbClr val="E23E7A"/>
                </a:solidFill>
                <a:latin typeface="Cambria" pitchFamily="34" charset="0"/>
                <a:ea typeface="Cambria" pitchFamily="34" charset="-122"/>
                <a:cs typeface="Cambria" pitchFamily="34" charset="-120"/>
              </a:rPr>
              <a:t>Satisfied customers  →  trust  →  repeat and new customers  →  growth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SECTION 6  ·  THE PITCH</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Structure a 10-minute pitch</a:t>
            </a:r>
            <a:endParaRPr lang="en-US" sz="3400" dirty="0"/>
          </a:p>
        </p:txBody>
      </p:sp>
      <p:graphicFrame>
        <p:nvGraphicFramePr>
          <p:cNvPr id="5" name="Chart 0" descr=""/>
          <p:cNvGraphicFramePr/>
          <p:nvPr/>
        </p:nvGraphicFramePr>
        <p:xfrm>
          <a:off x="457200" y="118872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126480" y="1371600"/>
            <a:ext cx="548640" cy="548640"/>
          </a:xfrm>
          <a:prstGeom prst="ellipse">
            <a:avLst/>
          </a:prstGeom>
          <a:solidFill>
            <a:srgbClr val="2E1437"/>
          </a:solidFill>
          <a:ln w="12700">
            <a:solidFill>
              <a:srgbClr val="2E1437"/>
            </a:solidFill>
            <a:prstDash val="solid"/>
          </a:ln>
        </p:spPr>
      </p:sp>
      <p:pic>
        <p:nvPicPr>
          <p:cNvPr id="7" name="Image 0" descr="preencoded.png">    </p:cNvPr>
          <p:cNvPicPr>
            <a:picLocks noChangeAspect="1"/>
          </p:cNvPicPr>
          <p:nvPr/>
        </p:nvPicPr>
        <p:blipFill>
          <a:blip r:embed="rId2"/>
          <a:stretch>
            <a:fillRect/>
          </a:stretch>
        </p:blipFill>
        <p:spPr>
          <a:xfrm>
            <a:off x="6263640" y="1508760"/>
            <a:ext cx="274320" cy="274320"/>
          </a:xfrm>
          <a:prstGeom prst="rect">
            <a:avLst/>
          </a:prstGeom>
        </p:spPr>
      </p:pic>
      <p:sp>
        <p:nvSpPr>
          <p:cNvPr id="8" name="Text 3"/>
          <p:cNvSpPr txBox="1"/>
          <p:nvPr/>
        </p:nvSpPr>
        <p:spPr>
          <a:xfrm>
            <a:off x="6858000" y="1344168"/>
            <a:ext cx="1828800" cy="320040"/>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Pace</a:t>
            </a:r>
            <a:endParaRPr lang="en-US" sz="1600" dirty="0"/>
          </a:p>
        </p:txBody>
      </p:sp>
      <p:sp>
        <p:nvSpPr>
          <p:cNvPr id="9" name="Text 4"/>
          <p:cNvSpPr txBox="1"/>
          <p:nvPr/>
        </p:nvSpPr>
        <p:spPr>
          <a:xfrm>
            <a:off x="6858000" y="1664208"/>
            <a:ext cx="1828800" cy="457200"/>
          </a:xfrm>
          <a:prstGeom prst="rect">
            <a:avLst/>
          </a:prstGeom>
          <a:noFill/>
          <a:ln/>
        </p:spPr>
        <p:txBody>
          <a:bodyPr wrap="square" lIns="0" tIns="0" rIns="0" bIns="0" rtlCol="0" anchor="t"/>
          <a:lstStyle/>
          <a:p>
            <a:pPr indent="0" marL="0">
              <a:buNone/>
            </a:pPr>
            <a:r>
              <a:rPr lang="en-US" sz="1200" dirty="0">
                <a:solidFill>
                  <a:srgbClr val="6B5F73"/>
                </a:solidFill>
                <a:latin typeface="Calibri" pitchFamily="34" charset="0"/>
                <a:ea typeface="Calibri" pitchFamily="34" charset="-122"/>
                <a:cs typeface="Calibri" pitchFamily="34" charset="-120"/>
              </a:rPr>
              <a:t>140 to 150 words a minute</a:t>
            </a:r>
            <a:endParaRPr lang="en-US" sz="1200" dirty="0"/>
          </a:p>
        </p:txBody>
      </p:sp>
      <p:sp>
        <p:nvSpPr>
          <p:cNvPr id="10" name="Shape 5"/>
          <p:cNvSpPr/>
          <p:nvPr/>
        </p:nvSpPr>
        <p:spPr>
          <a:xfrm>
            <a:off x="6126480" y="2423160"/>
            <a:ext cx="548640" cy="548640"/>
          </a:xfrm>
          <a:prstGeom prst="ellipse">
            <a:avLst/>
          </a:prstGeom>
          <a:solidFill>
            <a:srgbClr val="2E1437"/>
          </a:solidFill>
          <a:ln w="12700">
            <a:solidFill>
              <a:srgbClr val="2E1437"/>
            </a:solidFill>
            <a:prstDash val="solid"/>
          </a:ln>
        </p:spPr>
      </p:sp>
      <p:pic>
        <p:nvPicPr>
          <p:cNvPr id="11" name="Image 1" descr="preencoded.png">    </p:cNvPr>
          <p:cNvPicPr>
            <a:picLocks noChangeAspect="1"/>
          </p:cNvPicPr>
          <p:nvPr/>
        </p:nvPicPr>
        <p:blipFill>
          <a:blip r:embed="rId3"/>
          <a:stretch>
            <a:fillRect/>
          </a:stretch>
        </p:blipFill>
        <p:spPr>
          <a:xfrm>
            <a:off x="6263640" y="2560320"/>
            <a:ext cx="274320" cy="274320"/>
          </a:xfrm>
          <a:prstGeom prst="rect">
            <a:avLst/>
          </a:prstGeom>
        </p:spPr>
      </p:pic>
      <p:sp>
        <p:nvSpPr>
          <p:cNvPr id="12" name="Text 6"/>
          <p:cNvSpPr txBox="1"/>
          <p:nvPr/>
        </p:nvSpPr>
        <p:spPr>
          <a:xfrm>
            <a:off x="6858000" y="2395728"/>
            <a:ext cx="1828800" cy="320040"/>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Pauses</a:t>
            </a:r>
            <a:endParaRPr lang="en-US" sz="1600" dirty="0"/>
          </a:p>
        </p:txBody>
      </p:sp>
      <p:sp>
        <p:nvSpPr>
          <p:cNvPr id="13" name="Text 7"/>
          <p:cNvSpPr txBox="1"/>
          <p:nvPr/>
        </p:nvSpPr>
        <p:spPr>
          <a:xfrm>
            <a:off x="6858000" y="2715768"/>
            <a:ext cx="1828800" cy="457200"/>
          </a:xfrm>
          <a:prstGeom prst="rect">
            <a:avLst/>
          </a:prstGeom>
          <a:noFill/>
          <a:ln/>
        </p:spPr>
        <p:txBody>
          <a:bodyPr wrap="square" lIns="0" tIns="0" rIns="0" bIns="0" rtlCol="0" anchor="t"/>
          <a:lstStyle/>
          <a:p>
            <a:pPr indent="0" marL="0">
              <a:buNone/>
            </a:pPr>
            <a:r>
              <a:rPr lang="en-US" sz="1200" dirty="0">
                <a:solidFill>
                  <a:srgbClr val="6B5F73"/>
                </a:solidFill>
                <a:latin typeface="Calibri" pitchFamily="34" charset="0"/>
                <a:ea typeface="Calibri" pitchFamily="34" charset="-122"/>
                <a:cs typeface="Calibri" pitchFamily="34" charset="-120"/>
              </a:rPr>
              <a:t>Let key moments land</a:t>
            </a:r>
            <a:endParaRPr lang="en-US" sz="1200" dirty="0"/>
          </a:p>
        </p:txBody>
      </p:sp>
      <p:sp>
        <p:nvSpPr>
          <p:cNvPr id="14" name="Shape 8"/>
          <p:cNvSpPr/>
          <p:nvPr/>
        </p:nvSpPr>
        <p:spPr>
          <a:xfrm>
            <a:off x="6126480" y="3474720"/>
            <a:ext cx="548640" cy="548640"/>
          </a:xfrm>
          <a:prstGeom prst="ellipse">
            <a:avLst/>
          </a:prstGeom>
          <a:solidFill>
            <a:srgbClr val="2E1437"/>
          </a:solidFill>
          <a:ln w="12700">
            <a:solidFill>
              <a:srgbClr val="2E1437"/>
            </a:solidFill>
            <a:prstDash val="solid"/>
          </a:ln>
        </p:spPr>
      </p:sp>
      <p:pic>
        <p:nvPicPr>
          <p:cNvPr id="15" name="Image 2" descr="preencoded.png">    </p:cNvPr>
          <p:cNvPicPr>
            <a:picLocks noChangeAspect="1"/>
          </p:cNvPicPr>
          <p:nvPr/>
        </p:nvPicPr>
        <p:blipFill>
          <a:blip r:embed="rId4"/>
          <a:stretch>
            <a:fillRect/>
          </a:stretch>
        </p:blipFill>
        <p:spPr>
          <a:xfrm>
            <a:off x="6263640" y="3611880"/>
            <a:ext cx="274320" cy="274320"/>
          </a:xfrm>
          <a:prstGeom prst="rect">
            <a:avLst/>
          </a:prstGeom>
        </p:spPr>
      </p:pic>
      <p:sp>
        <p:nvSpPr>
          <p:cNvPr id="16" name="Text 9"/>
          <p:cNvSpPr txBox="1"/>
          <p:nvPr/>
        </p:nvSpPr>
        <p:spPr>
          <a:xfrm>
            <a:off x="6858000" y="3447288"/>
            <a:ext cx="1828800" cy="320040"/>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Handovers</a:t>
            </a:r>
            <a:endParaRPr lang="en-US" sz="1600" dirty="0"/>
          </a:p>
        </p:txBody>
      </p:sp>
      <p:sp>
        <p:nvSpPr>
          <p:cNvPr id="17" name="Text 10"/>
          <p:cNvSpPr txBox="1"/>
          <p:nvPr/>
        </p:nvSpPr>
        <p:spPr>
          <a:xfrm>
            <a:off x="6858000" y="3767328"/>
            <a:ext cx="1828800" cy="457200"/>
          </a:xfrm>
          <a:prstGeom prst="rect">
            <a:avLst/>
          </a:prstGeom>
          <a:noFill/>
          <a:ln/>
        </p:spPr>
        <p:txBody>
          <a:bodyPr wrap="square" lIns="0" tIns="0" rIns="0" bIns="0" rtlCol="0" anchor="t"/>
          <a:lstStyle/>
          <a:p>
            <a:pPr indent="0" marL="0">
              <a:buNone/>
            </a:pPr>
            <a:r>
              <a:rPr lang="en-US" sz="1200" dirty="0">
                <a:solidFill>
                  <a:srgbClr val="6B5F73"/>
                </a:solidFill>
                <a:latin typeface="Calibri" pitchFamily="34" charset="0"/>
                <a:ea typeface="Calibri" pitchFamily="34" charset="-122"/>
                <a:cs typeface="Calibri" pitchFamily="34" charset="-120"/>
              </a:rPr>
              <a:t>Pass the baton smoothly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F9"/>
        </a:solidFill>
      </p:bgPr>
    </p:bg>
    <p:spTree>
      <p:nvGrpSpPr>
        <p:cNvPr id="1" name=""/>
        <p:cNvGrpSpPr/>
        <p:nvPr/>
      </p:nvGrpSpPr>
      <p:grpSpPr>
        <a:xfrm>
          <a:off x="0" y="0"/>
          <a:ext cx="0" cy="0"/>
          <a:chOff x="0" y="0"/>
          <a:chExt cx="0" cy="0"/>
        </a:xfrm>
      </p:grpSpPr>
      <p:sp>
        <p:nvSpPr>
          <p:cNvPr id="3" name="Text 0"/>
          <p:cNvSpPr txBox="1"/>
          <p:nvPr/>
        </p:nvSpPr>
        <p:spPr>
          <a:xfrm>
            <a:off x="457200" y="137160"/>
            <a:ext cx="5486400" cy="228600"/>
          </a:xfrm>
          <a:prstGeom prst="rect">
            <a:avLst/>
          </a:prstGeom>
          <a:noFill/>
          <a:ln/>
        </p:spPr>
        <p:txBody>
          <a:bodyPr wrap="square" lIns="0" tIns="0" rIns="0" bIns="0" rtlCol="0" anchor="ctr"/>
          <a:lstStyle/>
          <a:p>
            <a:pPr indent="0" marL="0">
              <a:buNone/>
            </a:pPr>
            <a:r>
              <a:rPr lang="en-US" sz="1100" b="1" spc="200" kern="0" dirty="0">
                <a:solidFill>
                  <a:srgbClr val="E23E7A"/>
                </a:solidFill>
                <a:latin typeface="Calibri" pitchFamily="34" charset="0"/>
                <a:ea typeface="Calibri" pitchFamily="34" charset="-122"/>
                <a:cs typeface="Calibri" pitchFamily="34" charset="-120"/>
              </a:rPr>
              <a:t>YOUR PROJECT</a:t>
            </a:r>
            <a:endParaRPr lang="en-US" sz="1100" dirty="0"/>
          </a:p>
        </p:txBody>
      </p:sp>
      <p:sp>
        <p:nvSpPr>
          <p:cNvPr id="4" name="Text 1"/>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400" b="1" dirty="0">
                <a:solidFill>
                  <a:srgbClr val="2E1437"/>
                </a:solidFill>
                <a:latin typeface="Cambria" pitchFamily="34" charset="0"/>
                <a:ea typeface="Cambria" pitchFamily="34" charset="-122"/>
                <a:cs typeface="Cambria" pitchFamily="34" charset="-120"/>
              </a:rPr>
              <a:t>What you will submit</a:t>
            </a:r>
            <a:endParaRPr lang="en-US" sz="3400" dirty="0"/>
          </a:p>
        </p:txBody>
      </p:sp>
      <p:sp>
        <p:nvSpPr>
          <p:cNvPr id="5" name="Shape 2"/>
          <p:cNvSpPr/>
          <p:nvPr/>
        </p:nvSpPr>
        <p:spPr>
          <a:xfrm>
            <a:off x="457200" y="1280160"/>
            <a:ext cx="548640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640080" y="1389888"/>
            <a:ext cx="512064" cy="512064"/>
          </a:xfrm>
          <a:prstGeom prst="ellipse">
            <a:avLst/>
          </a:prstGeom>
          <a:solidFill>
            <a:srgbClr val="E23E7A"/>
          </a:solidFill>
          <a:ln w="12700">
            <a:solidFill>
              <a:srgbClr val="E23E7A"/>
            </a:solidFill>
            <a:prstDash val="solid"/>
          </a:ln>
        </p:spPr>
      </p:sp>
      <p:pic>
        <p:nvPicPr>
          <p:cNvPr id="7" name="Image 0" descr="preencoded.png">    </p:cNvPr>
          <p:cNvPicPr>
            <a:picLocks noChangeAspect="1"/>
          </p:cNvPicPr>
          <p:nvPr/>
        </p:nvPicPr>
        <p:blipFill>
          <a:blip r:embed="rId1"/>
          <a:stretch>
            <a:fillRect/>
          </a:stretch>
        </p:blipFill>
        <p:spPr>
          <a:xfrm>
            <a:off x="768096" y="1517904"/>
            <a:ext cx="256032" cy="256032"/>
          </a:xfrm>
          <a:prstGeom prst="rect">
            <a:avLst/>
          </a:prstGeom>
        </p:spPr>
      </p:pic>
      <p:sp>
        <p:nvSpPr>
          <p:cNvPr id="8" name="Text 4"/>
          <p:cNvSpPr txBox="1"/>
          <p:nvPr/>
        </p:nvSpPr>
        <p:spPr>
          <a:xfrm>
            <a:off x="1371600" y="1353312"/>
            <a:ext cx="2011680" cy="585216"/>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Pain map</a:t>
            </a:r>
            <a:endParaRPr lang="en-US" sz="1600" dirty="0"/>
          </a:p>
        </p:txBody>
      </p:sp>
      <p:sp>
        <p:nvSpPr>
          <p:cNvPr id="9" name="Text 5"/>
          <p:cNvSpPr txBox="1"/>
          <p:nvPr/>
        </p:nvSpPr>
        <p:spPr>
          <a:xfrm>
            <a:off x="3291840" y="1353312"/>
            <a:ext cx="2560320" cy="585216"/>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Customer vs business problems</a:t>
            </a:r>
            <a:endParaRPr lang="en-US" sz="1300" dirty="0"/>
          </a:p>
        </p:txBody>
      </p:sp>
      <p:sp>
        <p:nvSpPr>
          <p:cNvPr id="10" name="Shape 6"/>
          <p:cNvSpPr/>
          <p:nvPr/>
        </p:nvSpPr>
        <p:spPr>
          <a:xfrm>
            <a:off x="457200" y="2148840"/>
            <a:ext cx="548640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7"/>
          <p:cNvSpPr/>
          <p:nvPr/>
        </p:nvSpPr>
        <p:spPr>
          <a:xfrm>
            <a:off x="640080" y="2258568"/>
            <a:ext cx="512064" cy="512064"/>
          </a:xfrm>
          <a:prstGeom prst="ellipse">
            <a:avLst/>
          </a:prstGeom>
          <a:solidFill>
            <a:srgbClr val="E23E7A"/>
          </a:solidFill>
          <a:ln w="12700">
            <a:solidFill>
              <a:srgbClr val="E23E7A"/>
            </a:solidFill>
            <a:prstDash val="solid"/>
          </a:ln>
        </p:spPr>
      </p:sp>
      <p:pic>
        <p:nvPicPr>
          <p:cNvPr id="12" name="Image 1" descr="preencoded.png">    </p:cNvPr>
          <p:cNvPicPr>
            <a:picLocks noChangeAspect="1"/>
          </p:cNvPicPr>
          <p:nvPr/>
        </p:nvPicPr>
        <p:blipFill>
          <a:blip r:embed="rId2"/>
          <a:stretch>
            <a:fillRect/>
          </a:stretch>
        </p:blipFill>
        <p:spPr>
          <a:xfrm>
            <a:off x="768096" y="2386584"/>
            <a:ext cx="256032" cy="256032"/>
          </a:xfrm>
          <a:prstGeom prst="rect">
            <a:avLst/>
          </a:prstGeom>
        </p:spPr>
      </p:pic>
      <p:sp>
        <p:nvSpPr>
          <p:cNvPr id="13" name="Text 8"/>
          <p:cNvSpPr txBox="1"/>
          <p:nvPr/>
        </p:nvSpPr>
        <p:spPr>
          <a:xfrm>
            <a:off x="1371600" y="2221992"/>
            <a:ext cx="2011680" cy="585216"/>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4 screens</a:t>
            </a:r>
            <a:endParaRPr lang="en-US" sz="1600" dirty="0"/>
          </a:p>
        </p:txBody>
      </p:sp>
      <p:sp>
        <p:nvSpPr>
          <p:cNvPr id="14" name="Text 9"/>
          <p:cNvSpPr txBox="1"/>
          <p:nvPr/>
        </p:nvSpPr>
        <p:spPr>
          <a:xfrm>
            <a:off x="3291840" y="2221992"/>
            <a:ext cx="2560320" cy="585216"/>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Tag, reading, profile, fit score</a:t>
            </a:r>
            <a:endParaRPr lang="en-US" sz="1300" dirty="0"/>
          </a:p>
        </p:txBody>
      </p:sp>
      <p:sp>
        <p:nvSpPr>
          <p:cNvPr id="15" name="Shape 10"/>
          <p:cNvSpPr/>
          <p:nvPr/>
        </p:nvSpPr>
        <p:spPr>
          <a:xfrm>
            <a:off x="457200" y="3017520"/>
            <a:ext cx="548640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6" name="Shape 11"/>
          <p:cNvSpPr/>
          <p:nvPr/>
        </p:nvSpPr>
        <p:spPr>
          <a:xfrm>
            <a:off x="640080" y="3127248"/>
            <a:ext cx="512064" cy="512064"/>
          </a:xfrm>
          <a:prstGeom prst="ellipse">
            <a:avLst/>
          </a:prstGeom>
          <a:solidFill>
            <a:srgbClr val="E23E7A"/>
          </a:solidFill>
          <a:ln w="12700">
            <a:solidFill>
              <a:srgbClr val="E23E7A"/>
            </a:solidFill>
            <a:prstDash val="solid"/>
          </a:ln>
        </p:spPr>
      </p:sp>
      <p:pic>
        <p:nvPicPr>
          <p:cNvPr id="17" name="Image 2" descr="preencoded.png">    </p:cNvPr>
          <p:cNvPicPr>
            <a:picLocks noChangeAspect="1"/>
          </p:cNvPicPr>
          <p:nvPr/>
        </p:nvPicPr>
        <p:blipFill>
          <a:blip r:embed="rId3"/>
          <a:stretch>
            <a:fillRect/>
          </a:stretch>
        </p:blipFill>
        <p:spPr>
          <a:xfrm>
            <a:off x="768096" y="3255264"/>
            <a:ext cx="256032" cy="256032"/>
          </a:xfrm>
          <a:prstGeom prst="rect">
            <a:avLst/>
          </a:prstGeom>
        </p:spPr>
      </p:pic>
      <p:sp>
        <p:nvSpPr>
          <p:cNvPr id="18" name="Text 12"/>
          <p:cNvSpPr txBox="1"/>
          <p:nvPr/>
        </p:nvSpPr>
        <p:spPr>
          <a:xfrm>
            <a:off x="1371600" y="3090672"/>
            <a:ext cx="2011680" cy="585216"/>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4 AI principles</a:t>
            </a:r>
            <a:endParaRPr lang="en-US" sz="1600" dirty="0"/>
          </a:p>
        </p:txBody>
      </p:sp>
      <p:sp>
        <p:nvSpPr>
          <p:cNvPr id="19" name="Text 13"/>
          <p:cNvSpPr txBox="1"/>
          <p:nvPr/>
        </p:nvSpPr>
        <p:spPr>
          <a:xfrm>
            <a:off x="3291840" y="3090672"/>
            <a:ext cx="2560320" cy="585216"/>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Your own responsible-AI rules</a:t>
            </a:r>
            <a:endParaRPr lang="en-US" sz="1300" dirty="0"/>
          </a:p>
        </p:txBody>
      </p:sp>
      <p:sp>
        <p:nvSpPr>
          <p:cNvPr id="20" name="Shape 14"/>
          <p:cNvSpPr/>
          <p:nvPr/>
        </p:nvSpPr>
        <p:spPr>
          <a:xfrm>
            <a:off x="457200" y="3886200"/>
            <a:ext cx="548640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1" name="Shape 15"/>
          <p:cNvSpPr/>
          <p:nvPr/>
        </p:nvSpPr>
        <p:spPr>
          <a:xfrm>
            <a:off x="640080" y="3995928"/>
            <a:ext cx="512064" cy="512064"/>
          </a:xfrm>
          <a:prstGeom prst="ellipse">
            <a:avLst/>
          </a:prstGeom>
          <a:solidFill>
            <a:srgbClr val="E23E7A"/>
          </a:solidFill>
          <a:ln w="12700">
            <a:solidFill>
              <a:srgbClr val="E23E7A"/>
            </a:solidFill>
            <a:prstDash val="solid"/>
          </a:ln>
        </p:spPr>
      </p:sp>
      <p:pic>
        <p:nvPicPr>
          <p:cNvPr id="22" name="Image 3" descr="preencoded.png">    </p:cNvPr>
          <p:cNvPicPr>
            <a:picLocks noChangeAspect="1"/>
          </p:cNvPicPr>
          <p:nvPr/>
        </p:nvPicPr>
        <p:blipFill>
          <a:blip r:embed="rId4"/>
          <a:stretch>
            <a:fillRect/>
          </a:stretch>
        </p:blipFill>
        <p:spPr>
          <a:xfrm>
            <a:off x="768096" y="4123944"/>
            <a:ext cx="256032" cy="256032"/>
          </a:xfrm>
          <a:prstGeom prst="rect">
            <a:avLst/>
          </a:prstGeom>
        </p:spPr>
      </p:pic>
      <p:sp>
        <p:nvSpPr>
          <p:cNvPr id="23" name="Text 16"/>
          <p:cNvSpPr txBox="1"/>
          <p:nvPr/>
        </p:nvSpPr>
        <p:spPr>
          <a:xfrm>
            <a:off x="1371600" y="3959352"/>
            <a:ext cx="2011680" cy="585216"/>
          </a:xfrm>
          <a:prstGeom prst="rect">
            <a:avLst/>
          </a:prstGeom>
          <a:noFill/>
          <a:ln/>
        </p:spPr>
        <p:txBody>
          <a:bodyPr wrap="square" lIns="0" tIns="0" rIns="0" bIns="0" rtlCol="0" anchor="ctr"/>
          <a:lstStyle/>
          <a:p>
            <a:pPr indent="0" marL="0">
              <a:buNone/>
            </a:pPr>
            <a:r>
              <a:rPr lang="en-US" sz="1600" b="1" dirty="0">
                <a:solidFill>
                  <a:srgbClr val="2E1437"/>
                </a:solidFill>
                <a:latin typeface="Cambria" pitchFamily="34" charset="0"/>
                <a:ea typeface="Cambria" pitchFamily="34" charset="-122"/>
                <a:cs typeface="Cambria" pitchFamily="34" charset="-120"/>
              </a:rPr>
              <a:t>Recorded pitch</a:t>
            </a:r>
            <a:endParaRPr lang="en-US" sz="1600" dirty="0"/>
          </a:p>
        </p:txBody>
      </p:sp>
      <p:sp>
        <p:nvSpPr>
          <p:cNvPr id="24" name="Text 17"/>
          <p:cNvSpPr txBox="1"/>
          <p:nvPr/>
        </p:nvSpPr>
        <p:spPr>
          <a:xfrm>
            <a:off x="3291840" y="3959352"/>
            <a:ext cx="2560320" cy="585216"/>
          </a:xfrm>
          <a:prstGeom prst="rect">
            <a:avLst/>
          </a:prstGeom>
          <a:noFill/>
          <a:ln/>
        </p:spPr>
        <p:txBody>
          <a:bodyPr wrap="square" lIns="0" tIns="0" rIns="0" bIns="0" rtlCol="0" anchor="ctr"/>
          <a:lstStyle/>
          <a:p>
            <a:pPr indent="0" marL="0">
              <a:buNone/>
            </a:pPr>
            <a:r>
              <a:rPr lang="en-US" sz="1300" dirty="0">
                <a:solidFill>
                  <a:srgbClr val="6B5F73"/>
                </a:solidFill>
                <a:latin typeface="Calibri" pitchFamily="34" charset="0"/>
                <a:ea typeface="Calibri" pitchFamily="34" charset="-122"/>
                <a:cs typeface="Calibri" pitchFamily="34" charset="-120"/>
              </a:rPr>
              <a:t>10 minutes, submitted for feedback</a:t>
            </a:r>
            <a:endParaRPr lang="en-US" sz="1300" dirty="0"/>
          </a:p>
        </p:txBody>
      </p:sp>
      <p:sp>
        <p:nvSpPr>
          <p:cNvPr id="25" name="Shape 18"/>
          <p:cNvSpPr/>
          <p:nvPr/>
        </p:nvSpPr>
        <p:spPr>
          <a:xfrm>
            <a:off x="6309360" y="1280160"/>
            <a:ext cx="2377440" cy="3246120"/>
          </a:xfrm>
          <a:prstGeom prst="roundRect">
            <a:avLst>
              <a:gd name="adj" fmla="val 5769"/>
            </a:avLst>
          </a:prstGeom>
          <a:solidFill>
            <a:srgbClr val="2E1437"/>
          </a:solidFill>
          <a:ln w="12700">
            <a:solidFill>
              <a:srgbClr val="2E1437"/>
            </a:solidFill>
            <a:prstDash val="solid"/>
          </a:ln>
        </p:spPr>
      </p:sp>
      <p:sp>
        <p:nvSpPr>
          <p:cNvPr id="26" name="Text 19"/>
          <p:cNvSpPr txBox="1"/>
          <p:nvPr/>
        </p:nvSpPr>
        <p:spPr>
          <a:xfrm>
            <a:off x="6492240" y="1463040"/>
            <a:ext cx="2011680" cy="365760"/>
          </a:xfrm>
          <a:prstGeom prst="rect">
            <a:avLst/>
          </a:prstGeom>
          <a:noFill/>
          <a:ln/>
        </p:spPr>
        <p:txBody>
          <a:bodyPr wrap="square" lIns="0" tIns="0" rIns="0" bIns="0" rtlCol="0" anchor="ctr"/>
          <a:lstStyle/>
          <a:p>
            <a:pPr indent="0" marL="0">
              <a:buNone/>
            </a:pPr>
            <a:r>
              <a:rPr lang="en-US" sz="1800" b="1" dirty="0">
                <a:solidFill>
                  <a:srgbClr val="F5B942"/>
                </a:solidFill>
                <a:latin typeface="Cambria" pitchFamily="34" charset="0"/>
                <a:ea typeface="Cambria" pitchFamily="34" charset="-122"/>
                <a:cs typeface="Cambria" pitchFamily="34" charset="-120"/>
              </a:rPr>
              <a:t>Next step</a:t>
            </a:r>
            <a:endParaRPr lang="en-US" sz="1800" dirty="0"/>
          </a:p>
        </p:txBody>
      </p:sp>
      <p:sp>
        <p:nvSpPr>
          <p:cNvPr id="27" name="Text 20"/>
          <p:cNvSpPr txBox="1"/>
          <p:nvPr/>
        </p:nvSpPr>
        <p:spPr>
          <a:xfrm>
            <a:off x="6492240" y="1920240"/>
            <a:ext cx="2011680" cy="23774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Pilot with a small second-hand platform. Measure fewer wrong-size buys, fewer returns, happier customers.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1437"/>
        </a:solidFill>
      </p:bgPr>
    </p:bg>
    <p:spTree>
      <p:nvGrpSpPr>
        <p:cNvPr id="1" name=""/>
        <p:cNvGrpSpPr/>
        <p:nvPr/>
      </p:nvGrpSpPr>
      <p:grpSpPr>
        <a:xfrm>
          <a:off x="0" y="0"/>
          <a:ext cx="0" cy="0"/>
          <a:chOff x="0" y="0"/>
          <a:chExt cx="0" cy="0"/>
        </a:xfrm>
      </p:grpSpPr>
      <p:sp>
        <p:nvSpPr>
          <p:cNvPr id="3" name="Shape 0"/>
          <p:cNvSpPr/>
          <p:nvPr/>
        </p:nvSpPr>
        <p:spPr>
          <a:xfrm>
            <a:off x="3840480" y="640080"/>
            <a:ext cx="1463040" cy="1463040"/>
          </a:xfrm>
          <a:prstGeom prst="ellipse">
            <a:avLst/>
          </a:prstGeom>
          <a:solidFill>
            <a:srgbClr val="E23E7A"/>
          </a:solidFill>
          <a:ln w="12700">
            <a:solidFill>
              <a:srgbClr val="E23E7A"/>
            </a:solidFill>
            <a:prstDash val="solid"/>
          </a:ln>
        </p:spPr>
      </p:sp>
      <p:pic>
        <p:nvPicPr>
          <p:cNvPr id="4" name="Image 0" descr="preencoded.png">    </p:cNvPr>
          <p:cNvPicPr>
            <a:picLocks noChangeAspect="1"/>
          </p:cNvPicPr>
          <p:nvPr/>
        </p:nvPicPr>
        <p:blipFill>
          <a:blip r:embed="rId1"/>
          <a:stretch>
            <a:fillRect/>
          </a:stretch>
        </p:blipFill>
        <p:spPr>
          <a:xfrm>
            <a:off x="4251960" y="1051560"/>
            <a:ext cx="640080" cy="640080"/>
          </a:xfrm>
          <a:prstGeom prst="rect">
            <a:avLst/>
          </a:prstGeom>
        </p:spPr>
      </p:pic>
      <p:sp>
        <p:nvSpPr>
          <p:cNvPr id="5" name="Text 1"/>
          <p:cNvSpPr txBox="1"/>
          <p:nvPr/>
        </p:nvSpPr>
        <p:spPr>
          <a:xfrm>
            <a:off x="457200" y="2286000"/>
            <a:ext cx="822960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Congratulations!</a:t>
            </a:r>
            <a:endParaRPr lang="en-US" sz="4000" dirty="0"/>
          </a:p>
        </p:txBody>
      </p:sp>
      <p:sp>
        <p:nvSpPr>
          <p:cNvPr id="6" name="Text 2"/>
          <p:cNvSpPr txBox="1"/>
          <p:nvPr/>
        </p:nvSpPr>
        <p:spPr>
          <a:xfrm>
            <a:off x="914400" y="3108960"/>
            <a:ext cx="7315200" cy="548640"/>
          </a:xfrm>
          <a:prstGeom prst="rect">
            <a:avLst/>
          </a:prstGeom>
          <a:noFill/>
          <a:ln/>
        </p:spPr>
        <p:txBody>
          <a:bodyPr wrap="square" lIns="0" tIns="0" rIns="0" bIns="0" rtlCol="0" anchor="ctr"/>
          <a:lstStyle/>
          <a:p>
            <a:pPr algn="ctr" indent="0" marL="0">
              <a:buNone/>
            </a:pPr>
            <a:r>
              <a:rPr lang="en-US" sz="2000" i="1" dirty="0">
                <a:solidFill>
                  <a:srgbClr val="F5B942"/>
                </a:solidFill>
                <a:latin typeface="Cambria" pitchFamily="34" charset="0"/>
                <a:ea typeface="Cambria" pitchFamily="34" charset="-122"/>
                <a:cs typeface="Cambria" pitchFamily="34" charset="-120"/>
              </a:rPr>
              <a:t>Second-hand should mean a second life, not a second guess.</a:t>
            </a:r>
            <a:endParaRPr lang="en-US" sz="2000" dirty="0"/>
          </a:p>
        </p:txBody>
      </p:sp>
      <p:sp>
        <p:nvSpPr>
          <p:cNvPr id="7" name="Text 3"/>
          <p:cNvSpPr txBox="1"/>
          <p:nvPr/>
        </p:nvSpPr>
        <p:spPr>
          <a:xfrm>
            <a:off x="914400" y="3931920"/>
            <a:ext cx="7315200" cy="365760"/>
          </a:xfrm>
          <a:prstGeom prst="rect">
            <a:avLst/>
          </a:prstGeom>
          <a:noFill/>
          <a:ln/>
        </p:spPr>
        <p:txBody>
          <a:bodyPr wrap="square" lIns="0" tIns="0" rIns="0" bIns="0" rtlCol="0" anchor="ctr"/>
          <a:lstStyle/>
          <a:p>
            <a:pPr algn="ctr" indent="0" marL="0">
              <a:buNone/>
            </a:pPr>
            <a:r>
              <a:rPr lang="en-US" sz="1600" dirty="0">
                <a:solidFill>
                  <a:srgbClr val="E9D8F0"/>
                </a:solidFill>
                <a:latin typeface="Calibri" pitchFamily="34" charset="0"/>
                <a:ea typeface="Calibri" pitchFamily="34" charset="-122"/>
                <a:cs typeface="Calibri" pitchFamily="34" charset="-120"/>
              </a:rPr>
              <a:t>Now go build something people will love.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and Pitch an AI Product: Fashion Fits</dc:title>
  <dc:subject>PptxGenJS Presentation</dc:subject>
  <dc:creator>PptxGenJS</dc:creator>
  <cp:lastModifiedBy>PptxGenJS</cp:lastModifiedBy>
  <cp:revision>1</cp:revision>
  <dcterms:created xsi:type="dcterms:W3CDTF">2026-09-30T22:53:32Z</dcterms:created>
  <dcterms:modified xsi:type="dcterms:W3CDTF">2026-09-30T22:53:32Z</dcterms:modified>
</cp:coreProperties>
</file>